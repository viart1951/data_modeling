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650" r:id="rId1"/>
  </p:sldMasterIdLst>
  <p:notesMasterIdLst>
    <p:notesMasterId r:id="rId43"/>
  </p:notesMasterIdLst>
  <p:handoutMasterIdLst>
    <p:handoutMasterId r:id="rId44"/>
  </p:handoutMasterIdLst>
  <p:sldIdLst>
    <p:sldId id="448" r:id="rId2"/>
    <p:sldId id="599" r:id="rId3"/>
    <p:sldId id="257" r:id="rId4"/>
    <p:sldId id="693" r:id="rId5"/>
    <p:sldId id="721" r:id="rId6"/>
    <p:sldId id="685" r:id="rId7"/>
    <p:sldId id="643" r:id="rId8"/>
    <p:sldId id="680" r:id="rId9"/>
    <p:sldId id="698" r:id="rId10"/>
    <p:sldId id="699" r:id="rId11"/>
    <p:sldId id="706" r:id="rId12"/>
    <p:sldId id="707" r:id="rId13"/>
    <p:sldId id="700" r:id="rId14"/>
    <p:sldId id="708" r:id="rId15"/>
    <p:sldId id="701" r:id="rId16"/>
    <p:sldId id="709" r:id="rId17"/>
    <p:sldId id="702" r:id="rId18"/>
    <p:sldId id="710" r:id="rId19"/>
    <p:sldId id="711" r:id="rId20"/>
    <p:sldId id="712" r:id="rId21"/>
    <p:sldId id="703" r:id="rId22"/>
    <p:sldId id="713" r:id="rId23"/>
    <p:sldId id="705" r:id="rId24"/>
    <p:sldId id="720" r:id="rId25"/>
    <p:sldId id="679" r:id="rId26"/>
    <p:sldId id="676" r:id="rId27"/>
    <p:sldId id="691" r:id="rId28"/>
    <p:sldId id="692" r:id="rId29"/>
    <p:sldId id="677" r:id="rId30"/>
    <p:sldId id="681" r:id="rId31"/>
    <p:sldId id="694" r:id="rId32"/>
    <p:sldId id="716" r:id="rId33"/>
    <p:sldId id="717" r:id="rId34"/>
    <p:sldId id="718" r:id="rId35"/>
    <p:sldId id="719" r:id="rId36"/>
    <p:sldId id="689" r:id="rId37"/>
    <p:sldId id="695" r:id="rId38"/>
    <p:sldId id="696" r:id="rId39"/>
    <p:sldId id="697" r:id="rId40"/>
    <p:sldId id="715" r:id="rId41"/>
    <p:sldId id="688" r:id="rId4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8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3492" userDrawn="1">
          <p15:clr>
            <a:srgbClr val="A4A3A4"/>
          </p15:clr>
        </p15:guide>
        <p15:guide id="4" pos="4513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7268">
          <p15:clr>
            <a:srgbClr val="A4A3A4"/>
          </p15:clr>
        </p15:guide>
        <p15:guide id="2" pos="375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ртемьев Валерий Иванович" initials="АВИ" lastIdx="3" clrIdx="0">
    <p:extLst>
      <p:ext uri="{19B8F6BF-5375-455C-9EA6-DF929625EA0E}">
        <p15:presenceInfo xmlns:p15="http://schemas.microsoft.com/office/powerpoint/2012/main" userId="S-1-5-21-340576085-3929279038-2991976684-5702" providerId="AD"/>
      </p:ext>
    </p:extLst>
  </p:cmAuthor>
  <p:cmAuthor id="2" name="Valery Artemyev" initials="VA" lastIdx="1" clrIdx="1">
    <p:extLst>
      <p:ext uri="{19B8F6BF-5375-455C-9EA6-DF929625EA0E}">
        <p15:presenceInfo xmlns:p15="http://schemas.microsoft.com/office/powerpoint/2012/main" userId="35ce3f25fa2b7f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FF99"/>
    <a:srgbClr val="FF9900"/>
    <a:srgbClr val="99CC00"/>
    <a:srgbClr val="800000"/>
    <a:srgbClr val="EEEEEE"/>
    <a:srgbClr val="8FE2FF"/>
    <a:srgbClr val="FFFFFF"/>
    <a:srgbClr val="5DD5FF"/>
    <a:srgbClr val="FFFF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5" autoAdjust="0"/>
    <p:restoredTop sz="94585" autoAdjust="0"/>
  </p:normalViewPr>
  <p:slideViewPr>
    <p:cSldViewPr snapToGrid="0">
      <p:cViewPr varScale="1">
        <p:scale>
          <a:sx n="65" d="100"/>
          <a:sy n="65" d="100"/>
        </p:scale>
        <p:origin x="1404" y="60"/>
      </p:cViewPr>
      <p:guideLst>
        <p:guide orient="horz" pos="1548"/>
        <p:guide pos="340"/>
        <p:guide pos="3492"/>
        <p:guide pos="4513"/>
        <p:guide orient="horz"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486" y="-606"/>
      </p:cViewPr>
      <p:guideLst>
        <p:guide orient="horz" pos="7268"/>
        <p:guide pos="37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35" tIns="0" rIns="19035" bIns="0" numCol="1" anchor="t" anchorCtr="0" compatLnSpc="1">
            <a:prstTxWarp prst="textNoShape">
              <a:avLst/>
            </a:prstTxWarp>
          </a:bodyPr>
          <a:lstStyle>
            <a:lvl1pPr defTabSz="947738" eaLnBrk="0" hangingPunct="0">
              <a:defRPr sz="1000" b="0" i="1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35" tIns="0" rIns="19035" bIns="0" numCol="1" anchor="t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000" b="0" i="1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0" y="9431338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35" tIns="0" rIns="19035" bIns="0" numCol="1" anchor="b" anchorCtr="0" compatLnSpc="1">
            <a:prstTxWarp prst="textNoShape">
              <a:avLst/>
            </a:prstTxWarp>
          </a:bodyPr>
          <a:lstStyle>
            <a:lvl1pPr defTabSz="947738" eaLnBrk="0" hangingPunct="0">
              <a:defRPr sz="1000" b="0" i="1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3852863" y="9431338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35" tIns="0" rIns="19035" bIns="0" numCol="1" anchor="b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000" b="0" i="1"/>
            </a:lvl1pPr>
          </a:lstStyle>
          <a:p>
            <a:pPr>
              <a:defRPr/>
            </a:pPr>
            <a:fld id="{A149B7EA-1D08-45B6-A8B4-1AA10885C951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3"/>
          <p:cNvSpPr>
            <a:spLocks noChangeShapeType="1"/>
          </p:cNvSpPr>
          <p:nvPr/>
        </p:nvSpPr>
        <p:spPr bwMode="gray">
          <a:xfrm>
            <a:off x="147638" y="365125"/>
            <a:ext cx="645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95250" y="6129338"/>
            <a:ext cx="6605588" cy="32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87" tIns="47586" rIns="93587" bIns="47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00" name="Line 11"/>
          <p:cNvSpPr>
            <a:spLocks noChangeShapeType="1"/>
          </p:cNvSpPr>
          <p:nvPr/>
        </p:nvSpPr>
        <p:spPr bwMode="gray">
          <a:xfrm>
            <a:off x="195263" y="6135688"/>
            <a:ext cx="64135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4101" name="Group 45"/>
          <p:cNvGrpSpPr>
            <a:grpSpLocks/>
          </p:cNvGrpSpPr>
          <p:nvPr/>
        </p:nvGrpSpPr>
        <p:grpSpPr bwMode="auto">
          <a:xfrm>
            <a:off x="203200" y="9420225"/>
            <a:ext cx="6367463" cy="457200"/>
            <a:chOff x="131" y="5542"/>
            <a:chExt cx="4122" cy="269"/>
          </a:xfrm>
        </p:grpSpPr>
        <p:sp>
          <p:nvSpPr>
            <p:cNvPr id="4107" name="Line 12"/>
            <p:cNvSpPr>
              <a:spLocks noChangeShapeType="1"/>
            </p:cNvSpPr>
            <p:nvPr/>
          </p:nvSpPr>
          <p:spPr bwMode="gray">
            <a:xfrm>
              <a:off x="131" y="5545"/>
              <a:ext cx="412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4108" name="Line 15"/>
            <p:cNvSpPr>
              <a:spLocks noChangeShapeType="1"/>
            </p:cNvSpPr>
            <p:nvPr/>
          </p:nvSpPr>
          <p:spPr bwMode="gray">
            <a:xfrm>
              <a:off x="4253" y="5542"/>
              <a:ext cx="0" cy="26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18438" name="Rectangle 19"/>
          <p:cNvSpPr>
            <a:spLocks noChangeArrowheads="1"/>
          </p:cNvSpPr>
          <p:nvPr/>
        </p:nvSpPr>
        <p:spPr bwMode="gray">
          <a:xfrm>
            <a:off x="107950" y="58738"/>
            <a:ext cx="4676775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ru-RU" altLang="ru-RU">
              <a:cs typeface="+mn-cs"/>
            </a:endParaRPr>
          </a:p>
        </p:txBody>
      </p:sp>
      <p:sp>
        <p:nvSpPr>
          <p:cNvPr id="18439" name="Text Box 27"/>
          <p:cNvSpPr txBox="1">
            <a:spLocks noChangeArrowheads="1"/>
          </p:cNvSpPr>
          <p:nvPr/>
        </p:nvSpPr>
        <p:spPr bwMode="gray">
          <a:xfrm>
            <a:off x="58738" y="33338"/>
            <a:ext cx="66405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366" tIns="45683" rIns="91366" bIns="45683">
            <a:spAutoFit/>
          </a:bodyPr>
          <a:lstStyle>
            <a:lvl1pPr defTabSz="912813"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912813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12813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12813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12813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ru-RU" altLang="ru-RU" sz="1200">
                <a:cs typeface="+mn-cs"/>
              </a:rPr>
              <a:t>Построение многомерных моделей показателей банковской отчетности</a:t>
            </a:r>
            <a:endParaRPr lang="en-US" altLang="ru-RU" sz="1200">
              <a:cs typeface="+mn-cs"/>
            </a:endParaRPr>
          </a:p>
        </p:txBody>
      </p:sp>
      <p:sp>
        <p:nvSpPr>
          <p:cNvPr id="18440" name="Rectangle 31"/>
          <p:cNvSpPr>
            <a:spLocks noChangeArrowheads="1"/>
          </p:cNvSpPr>
          <p:nvPr/>
        </p:nvSpPr>
        <p:spPr bwMode="gray">
          <a:xfrm>
            <a:off x="6035675" y="9642475"/>
            <a:ext cx="427038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944563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44563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44563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44563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44563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8000"/>
              </a:lnSpc>
              <a:defRPr/>
            </a:pPr>
            <a:r>
              <a:rPr lang="ru-RU" altLang="ru-RU" sz="1000"/>
              <a:t>Стр</a:t>
            </a:r>
            <a:r>
              <a:rPr lang="en-US" altLang="ru-RU" sz="1000"/>
              <a:t> </a:t>
            </a:r>
            <a:fld id="{A4C8B977-8265-4DEF-B87B-2490758BACF3}" type="slidenum">
              <a:rPr lang="en-US" altLang="ru-RU" sz="1000" smtClean="0"/>
              <a:pPr algn="ctr">
                <a:lnSpc>
                  <a:spcPct val="108000"/>
                </a:lnSpc>
                <a:defRPr/>
              </a:pPr>
              <a:t>‹#›</a:t>
            </a:fld>
            <a:endParaRPr lang="en-US" altLang="ru-RU" sz="1000"/>
          </a:p>
        </p:txBody>
      </p:sp>
      <p:sp>
        <p:nvSpPr>
          <p:cNvPr id="4105" name="Rectangle 37"/>
          <p:cNvSpPr>
            <a:spLocks noGrp="1" noRot="1" noChangeAspect="1" noChangeArrowheads="1" noTextEdit="1"/>
          </p:cNvSpPr>
          <p:nvPr>
            <p:ph type="sldImg" idx="2"/>
          </p:nvPr>
        </p:nvSpPr>
        <p:spPr bwMode="gray">
          <a:xfrm>
            <a:off x="527050" y="1500188"/>
            <a:ext cx="5737225" cy="4302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42" name="Rectangle 43"/>
          <p:cNvSpPr>
            <a:spLocks noChangeArrowheads="1"/>
          </p:cNvSpPr>
          <p:nvPr/>
        </p:nvSpPr>
        <p:spPr bwMode="gray">
          <a:xfrm>
            <a:off x="111125" y="9399588"/>
            <a:ext cx="44021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ru-RU" sz="900" b="0">
                <a:cs typeface="+mn-cs"/>
              </a:rPr>
              <a:t>© 200</a:t>
            </a:r>
            <a:r>
              <a:rPr lang="ru-RU" altLang="ru-RU" sz="900" b="0">
                <a:cs typeface="+mn-cs"/>
              </a:rPr>
              <a:t>6 Артемьев В.И. (Главный центр информатизации Банка России)</a:t>
            </a:r>
            <a:endParaRPr lang="en-US" altLang="ru-RU" sz="900" b="0">
              <a:solidFill>
                <a:srgbClr val="0000FF"/>
              </a:solidFill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-52"/>
        <a:ea typeface="+mn-ea"/>
        <a:cs typeface="+mn-cs"/>
      </a:defRPr>
    </a:lvl1pPr>
    <a:lvl2pPr marL="742950" indent="-28575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1143000" indent="-22860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600200" indent="-22860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2057400" indent="-22860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3"/>
          <p:cNvGrpSpPr>
            <a:grpSpLocks/>
          </p:cNvGrpSpPr>
          <p:nvPr/>
        </p:nvGrpSpPr>
        <p:grpSpPr bwMode="auto">
          <a:xfrm>
            <a:off x="204788" y="161925"/>
            <a:ext cx="6337300" cy="57150"/>
            <a:chOff x="133" y="96"/>
            <a:chExt cx="4101" cy="33"/>
          </a:xfrm>
        </p:grpSpPr>
        <p:sp>
          <p:nvSpPr>
            <p:cNvPr id="7180" name="Rectangle 4"/>
            <p:cNvSpPr>
              <a:spLocks noChangeArrowheads="1"/>
            </p:cNvSpPr>
            <p:nvPr/>
          </p:nvSpPr>
          <p:spPr bwMode="auto">
            <a:xfrm>
              <a:off x="133" y="107"/>
              <a:ext cx="4101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0000"/>
                </a:spcBef>
                <a:defRPr sz="1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30000"/>
                </a:spcBef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30000"/>
                </a:spcBef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30000"/>
                </a:spcBef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30000"/>
                </a:spcBef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ru-RU" altLang="ru-RU" sz="2400">
                <a:latin typeface="Arial" panose="020B0604020202020204" pitchFamily="34" charset="0"/>
              </a:endParaRPr>
            </a:p>
          </p:txBody>
        </p:sp>
        <p:sp>
          <p:nvSpPr>
            <p:cNvPr id="7181" name="Line 5"/>
            <p:cNvSpPr>
              <a:spLocks noChangeShapeType="1"/>
            </p:cNvSpPr>
            <p:nvPr/>
          </p:nvSpPr>
          <p:spPr bwMode="auto">
            <a:xfrm>
              <a:off x="133" y="96"/>
              <a:ext cx="41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138113" y="6264275"/>
            <a:ext cx="6351587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5028" tIns="25377" rIns="65028" bIns="25377">
            <a:spAutoFit/>
          </a:bodyPr>
          <a:lstStyle>
            <a:lvl1pPr marL="3657600" indent="-3657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ru-RU" sz="1800">
                <a:latin typeface="Arial" panose="020B0604020202020204" pitchFamily="34" charset="0"/>
              </a:rPr>
              <a:t>Рабочая группа по КПБС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ru-RU" sz="1800">
                <a:latin typeface="Arial" panose="020B0604020202020204" pitchFamily="34" charset="0"/>
              </a:rPr>
              <a:t>Москва, Банк России (СЭД)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ru-RU" sz="1800">
                <a:latin typeface="Arial" panose="020B0604020202020204" pitchFamily="34" charset="0"/>
              </a:rPr>
              <a:t>Октябрь 2006 года</a:t>
            </a:r>
            <a:endParaRPr lang="en-US" altLang="ru-RU" sz="1800">
              <a:latin typeface="Arial" panose="020B0604020202020204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ru-RU" b="0"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609287" name="Rectangle 7"/>
          <p:cNvSpPr>
            <a:spLocks noChangeArrowheads="1"/>
          </p:cNvSpPr>
          <p:nvPr/>
        </p:nvSpPr>
        <p:spPr bwMode="auto">
          <a:xfrm>
            <a:off x="295275" y="3376613"/>
            <a:ext cx="6318250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912813">
              <a:lnSpc>
                <a:spcPct val="90000"/>
              </a:lnSpc>
              <a:defRPr/>
            </a:pPr>
            <a:r>
              <a:rPr lang="ru-RU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Построение многомерных моделей показателей банковской отчетности</a:t>
            </a:r>
            <a:r>
              <a:rPr lang="ru-RU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 </a:t>
            </a:r>
          </a:p>
          <a:p>
            <a:pPr algn="ctr" defTabSz="912813">
              <a:lnSpc>
                <a:spcPct val="90000"/>
              </a:lnSpc>
              <a:defRPr/>
            </a:pPr>
            <a:endParaRPr lang="ru-RU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defTabSz="912813">
              <a:lnSpc>
                <a:spcPct val="90000"/>
              </a:lnSpc>
              <a:defRPr/>
            </a:pPr>
            <a:endParaRPr lang="ru-RU" sz="1800">
              <a:latin typeface="Arial" charset="0"/>
              <a:cs typeface="+mn-cs"/>
            </a:endParaRPr>
          </a:p>
        </p:txBody>
      </p:sp>
      <p:sp>
        <p:nvSpPr>
          <p:cNvPr id="7173" name="Rectangle 8"/>
          <p:cNvSpPr>
            <a:spLocks noChangeArrowheads="1"/>
          </p:cNvSpPr>
          <p:nvPr/>
        </p:nvSpPr>
        <p:spPr bwMode="auto">
          <a:xfrm>
            <a:off x="1390650" y="9486900"/>
            <a:ext cx="508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ru-RU" sz="800" b="0">
                <a:latin typeface="Arial" panose="020B0604020202020204" pitchFamily="34" charset="0"/>
              </a:rPr>
              <a:t>Этот материал может быть использован при разрешении автора </a:t>
            </a:r>
            <a:r>
              <a:rPr lang="en-US" altLang="ru-RU" sz="800" b="0">
                <a:latin typeface="Arial" panose="020B0604020202020204" pitchFamily="34" charset="0"/>
              </a:rPr>
              <a:t>art@gci.cbr.ru</a:t>
            </a:r>
            <a:endParaRPr lang="en-US" altLang="ru-RU" b="0">
              <a:latin typeface="Arial" panose="020B0604020202020204" pitchFamily="34" charset="0"/>
            </a:endParaRPr>
          </a:p>
        </p:txBody>
      </p:sp>
      <p:grpSp>
        <p:nvGrpSpPr>
          <p:cNvPr id="7174" name="Group 9"/>
          <p:cNvGrpSpPr>
            <a:grpSpLocks/>
          </p:cNvGrpSpPr>
          <p:nvPr/>
        </p:nvGrpSpPr>
        <p:grpSpPr bwMode="auto">
          <a:xfrm>
            <a:off x="203200" y="9420225"/>
            <a:ext cx="6367463" cy="457200"/>
            <a:chOff x="131" y="5542"/>
            <a:chExt cx="4122" cy="269"/>
          </a:xfrm>
        </p:grpSpPr>
        <p:sp>
          <p:nvSpPr>
            <p:cNvPr id="7178" name="Line 10"/>
            <p:cNvSpPr>
              <a:spLocks noChangeShapeType="1"/>
            </p:cNvSpPr>
            <p:nvPr/>
          </p:nvSpPr>
          <p:spPr bwMode="auto">
            <a:xfrm>
              <a:off x="131" y="5544"/>
              <a:ext cx="412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7179" name="Line 11"/>
            <p:cNvSpPr>
              <a:spLocks noChangeShapeType="1"/>
            </p:cNvSpPr>
            <p:nvPr/>
          </p:nvSpPr>
          <p:spPr bwMode="auto">
            <a:xfrm>
              <a:off x="4253" y="5542"/>
              <a:ext cx="0" cy="26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7175" name="Line 12"/>
          <p:cNvSpPr>
            <a:spLocks noChangeShapeType="1"/>
          </p:cNvSpPr>
          <p:nvPr/>
        </p:nvSpPr>
        <p:spPr bwMode="auto">
          <a:xfrm>
            <a:off x="195263" y="6135688"/>
            <a:ext cx="64135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176" name="Text Box 13"/>
          <p:cNvSpPr txBox="1">
            <a:spLocks noChangeArrowheads="1"/>
          </p:cNvSpPr>
          <p:nvPr/>
        </p:nvSpPr>
        <p:spPr bwMode="auto">
          <a:xfrm>
            <a:off x="4108450" y="5343525"/>
            <a:ext cx="1425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7177" name="Rectangle 14"/>
          <p:cNvSpPr>
            <a:spLocks noChangeArrowheads="1"/>
          </p:cNvSpPr>
          <p:nvPr/>
        </p:nvSpPr>
        <p:spPr bwMode="auto">
          <a:xfrm>
            <a:off x="4344988" y="6308725"/>
            <a:ext cx="2233612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ru-RU" altLang="ru-RU" sz="1400">
                <a:latin typeface="Arial" panose="020B0604020202020204" pitchFamily="34" charset="0"/>
              </a:rPr>
              <a:t>Артемьев Валерий </a:t>
            </a:r>
            <a:br>
              <a:rPr lang="ru-RU" altLang="ru-RU" sz="1400">
                <a:latin typeface="Arial" panose="020B0604020202020204" pitchFamily="34" charset="0"/>
              </a:rPr>
            </a:br>
            <a:r>
              <a:rPr lang="ru-RU" altLang="ru-RU" sz="1400">
                <a:latin typeface="Arial" panose="020B0604020202020204" pitchFamily="34" charset="0"/>
              </a:rPr>
              <a:t>Иванович (ГЦИ) </a:t>
            </a:r>
          </a:p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ru-RU" altLang="ru-RU" sz="1400">
                <a:latin typeface="Arial" panose="020B0604020202020204" pitchFamily="34" charset="0"/>
              </a:rPr>
              <a:t>© 2006</a:t>
            </a:r>
            <a:endParaRPr lang="en-US" altLang="ru-RU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3CB8E-4514-4753-8D9F-D5F05A5301A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546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8775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753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6858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7445-5089-2B02-25DE-4408918C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5EB09D-88A1-45D7-4591-CE78141B9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F50BCAB-CB3E-9BB0-C8A1-07B0D46CE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8181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9303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ltGray">
          <a:xfrm>
            <a:off x="0" y="0"/>
            <a:ext cx="9144000" cy="22860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ru-RU" altLang="ru-RU">
              <a:cs typeface="+mn-cs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0" y="4114800"/>
            <a:ext cx="9144000" cy="2743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ru-RU" altLang="ru-RU">
              <a:cs typeface="+mn-cs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gray">
          <a:xfrm>
            <a:off x="0" y="3968750"/>
            <a:ext cx="9144000" cy="152400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ru-RU" altLang="ru-RU">
              <a:cs typeface="+mn-cs"/>
            </a:endParaRPr>
          </a:p>
        </p:txBody>
      </p:sp>
      <p:sp>
        <p:nvSpPr>
          <p:cNvPr id="6" name="Line 11"/>
          <p:cNvSpPr>
            <a:spLocks noChangeShapeType="1"/>
          </p:cNvSpPr>
          <p:nvPr/>
        </p:nvSpPr>
        <p:spPr bwMode="gray">
          <a:xfrm>
            <a:off x="0" y="4114800"/>
            <a:ext cx="9144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7" name="Picture 27" descr="title pic sample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"/>
          <a:stretch>
            <a:fillRect/>
          </a:stretch>
        </p:blipFill>
        <p:spPr bwMode="auto">
          <a:xfrm>
            <a:off x="0" y="2289175"/>
            <a:ext cx="9144000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5"/>
          <p:cNvSpPr>
            <a:spLocks noChangeShapeType="1"/>
          </p:cNvSpPr>
          <p:nvPr/>
        </p:nvSpPr>
        <p:spPr bwMode="gray">
          <a:xfrm>
            <a:off x="0" y="2286000"/>
            <a:ext cx="9144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gray">
          <a:xfrm>
            <a:off x="0" y="3962400"/>
            <a:ext cx="9144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gray">
          <a:xfrm>
            <a:off x="0" y="3962400"/>
            <a:ext cx="9144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" name="Rectangle 1061"/>
          <p:cNvSpPr>
            <a:spLocks noChangeArrowheads="1"/>
          </p:cNvSpPr>
          <p:nvPr userDrawn="1"/>
        </p:nvSpPr>
        <p:spPr bwMode="auto">
          <a:xfrm>
            <a:off x="100013" y="4168775"/>
            <a:ext cx="9043987" cy="22399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ru-RU" altLang="ru-RU" b="0" dirty="0">
                <a:solidFill>
                  <a:srgbClr val="990033"/>
                </a:solidFill>
                <a:cs typeface="+mn-cs"/>
              </a:rPr>
              <a:t>Московский государственный технический университет </a:t>
            </a:r>
            <a:br>
              <a:rPr lang="ru-RU" altLang="ru-RU" b="0" dirty="0">
                <a:solidFill>
                  <a:srgbClr val="990033"/>
                </a:solidFill>
                <a:cs typeface="+mn-cs"/>
              </a:rPr>
            </a:br>
            <a:r>
              <a:rPr lang="ru-RU" altLang="ru-RU" b="0" dirty="0">
                <a:solidFill>
                  <a:srgbClr val="990033"/>
                </a:solidFill>
                <a:cs typeface="+mn-cs"/>
              </a:rPr>
              <a:t>имени Н.Э. Баумана</a:t>
            </a:r>
            <a:endParaRPr lang="ru-RU" altLang="ru-RU" dirty="0">
              <a:solidFill>
                <a:srgbClr val="990033"/>
              </a:solidFill>
              <a:cs typeface="+mn-cs"/>
            </a:endParaRPr>
          </a:p>
          <a:p>
            <a:pPr algn="ctr">
              <a:defRPr/>
            </a:pPr>
            <a:endParaRPr lang="ru-RU" altLang="ru-RU" sz="1200" dirty="0">
              <a:solidFill>
                <a:srgbClr val="990033"/>
              </a:solidFill>
              <a:cs typeface="+mn-cs"/>
            </a:endParaRPr>
          </a:p>
          <a:p>
            <a:pPr algn="ctr">
              <a:defRPr/>
            </a:pPr>
            <a:r>
              <a:rPr lang="ru-RU" altLang="ru-RU" dirty="0">
                <a:solidFill>
                  <a:srgbClr val="990033"/>
                </a:solidFill>
                <a:cs typeface="+mn-cs"/>
              </a:rPr>
              <a:t>Факультет ИБМ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endParaRPr lang="ru-RU" altLang="ru-RU" sz="1400" b="0" dirty="0">
              <a:solidFill>
                <a:srgbClr val="990033"/>
              </a:solidFill>
              <a:cs typeface="+mn-cs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  <a:defRPr/>
            </a:pPr>
            <a:endParaRPr lang="ru-RU" altLang="ru-RU" sz="1400" b="0" dirty="0">
              <a:solidFill>
                <a:srgbClr val="990033"/>
              </a:solidFill>
              <a:cs typeface="+mn-cs"/>
            </a:endParaRPr>
          </a:p>
          <a:p>
            <a:pPr algn="ctr">
              <a:lnSpc>
                <a:spcPct val="80000"/>
              </a:lnSpc>
              <a:defRPr/>
            </a:pPr>
            <a:r>
              <a:rPr lang="ru-RU" altLang="ru-RU" b="0" dirty="0">
                <a:solidFill>
                  <a:srgbClr val="990033"/>
                </a:solidFill>
                <a:cs typeface="+mn-cs"/>
              </a:rPr>
              <a:t>        Артемьев Валерий Иванович </a:t>
            </a:r>
            <a:r>
              <a:rPr lang="ru-RU" altLang="ru-RU" b="0" dirty="0">
                <a:solidFill>
                  <a:srgbClr val="990033"/>
                </a:solidFill>
                <a:cs typeface="Arial" charset="0"/>
              </a:rPr>
              <a:t>©</a:t>
            </a:r>
            <a:r>
              <a:rPr lang="ru-RU" altLang="ru-RU" b="0" dirty="0">
                <a:solidFill>
                  <a:srgbClr val="990033"/>
                </a:solidFill>
                <a:cs typeface="+mn-cs"/>
              </a:rPr>
              <a:t> 2024-25</a:t>
            </a:r>
          </a:p>
        </p:txBody>
      </p:sp>
      <p:sp>
        <p:nvSpPr>
          <p:cNvPr id="12" name="Прямоугольник 11"/>
          <p:cNvSpPr>
            <a:spLocks noChangeArrowheads="1"/>
          </p:cNvSpPr>
          <p:nvPr userDrawn="1"/>
        </p:nvSpPr>
        <p:spPr bwMode="auto">
          <a:xfrm>
            <a:off x="293688" y="5583238"/>
            <a:ext cx="30711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ru-RU" altLang="ru-RU" sz="1800" b="0" dirty="0">
                <a:solidFill>
                  <a:srgbClr val="990033"/>
                </a:solidFill>
                <a:cs typeface="+mn-cs"/>
              </a:rPr>
              <a:t>сен 2024 – ноя  2025 года </a:t>
            </a:r>
            <a:endParaRPr lang="ru-RU" altLang="ru-RU" dirty="0"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7915275" y="5491163"/>
            <a:ext cx="10572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30000"/>
              </a:spcBef>
              <a:defRPr/>
            </a:pPr>
            <a:r>
              <a:rPr lang="ru-RU" sz="1800" b="0" dirty="0">
                <a:solidFill>
                  <a:srgbClr val="990033"/>
                </a:solidFill>
                <a:latin typeface="Arial" charset="0"/>
                <a:cs typeface="+mn-cs"/>
              </a:rPr>
              <a:t>Москва</a:t>
            </a:r>
            <a:r>
              <a:rPr lang="ru-RU" dirty="0">
                <a:solidFill>
                  <a:srgbClr val="990033"/>
                </a:solidFill>
                <a:latin typeface="Arial" charset="0"/>
                <a:cs typeface="+mn-cs"/>
              </a:rPr>
              <a:t> </a:t>
            </a:r>
            <a:endParaRPr lang="ru-RU" sz="1400" dirty="0">
              <a:solidFill>
                <a:srgbClr val="FFFF66"/>
              </a:solidFill>
              <a:effectDag name="">
                <a:cont type="tree" name="">
                  <a:effect ref="fillLine"/>
                  <a:outerShdw dist="38100" dir="13500000" algn="br">
                    <a:srgbClr val="FFFF99"/>
                  </a:outerShdw>
                </a:cont>
                <a:cont type="tree" name="">
                  <a:effect ref="fillLine"/>
                  <a:outerShdw dist="38100" dir="2700000" algn="tl">
                    <a:srgbClr val="99983D"/>
                  </a:outerShdw>
                </a:cont>
                <a:effect ref="fillLine"/>
              </a:effectDag>
              <a:latin typeface="Arial" charset="0"/>
              <a:cs typeface="+mn-cs"/>
            </a:endParaRPr>
          </a:p>
        </p:txBody>
      </p:sp>
      <p:sp>
        <p:nvSpPr>
          <p:cNvPr id="2805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0" y="311150"/>
            <a:ext cx="9144000" cy="1055688"/>
          </a:xfrm>
          <a:noFill/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723953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B80C58-0818-4B3C-822A-0E0DC6A1F79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2046736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D1BFA-05A2-47A7-96DC-4A9AEAE1875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992123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19550" cy="4441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29150" y="1447800"/>
            <a:ext cx="4019550" cy="4441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61984-A732-4E36-BC90-CE93A539433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9006540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095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8F70F-294E-4C26-BE49-BAD542931A9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3201669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EC0E-674D-4422-87D5-B46285E99C3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894195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77FA9-112D-495B-9401-B6C9F051D9A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869637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AF4D4-87A7-4F2A-B5C2-5A5BD689268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21721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D89CE-6C1E-4AAB-A96C-5349ED62EDA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7595883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445FF-375A-4F2F-B0D2-9B85F66A14E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3419748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0800"/>
            <a:ext cx="2286000" cy="58388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0" y="50800"/>
            <a:ext cx="6705600" cy="58388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193AB-4634-4B50-A43C-D5600A690CB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0944329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0800"/>
            <a:ext cx="9144000" cy="10668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19550" cy="4441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29150" y="1447800"/>
            <a:ext cx="4019550" cy="2144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29150" y="3744913"/>
            <a:ext cx="4019550" cy="2144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A2CB5-FC9A-47A3-9897-65B830A5DA7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203920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0800"/>
            <a:ext cx="9144000" cy="10668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19550" cy="4441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29150" y="1447800"/>
            <a:ext cx="4019550" cy="4441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86A1C-A41A-4E0A-AD0A-E371F617206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861305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white">
          <a:xfrm>
            <a:off x="0" y="0"/>
            <a:ext cx="9144000" cy="11430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ru-RU" altLang="ru-RU"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gray">
          <a:xfrm>
            <a:off x="0" y="1139825"/>
            <a:ext cx="9144000" cy="57181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ru-RU" altLang="ru-RU">
              <a:cs typeface="+mn-cs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47800"/>
            <a:ext cx="8191500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text styles</a:t>
            </a:r>
          </a:p>
          <a:p>
            <a:pPr lvl="1"/>
            <a:r>
              <a:rPr lang="en-US" altLang="ru-RU"/>
              <a:t>Second level</a:t>
            </a:r>
          </a:p>
          <a:p>
            <a:pPr lvl="2"/>
            <a:r>
              <a:rPr lang="en-US" altLang="ru-RU"/>
              <a:t>Third level</a:t>
            </a:r>
          </a:p>
          <a:p>
            <a:pPr lvl="3"/>
            <a:r>
              <a:rPr lang="en-US" altLang="ru-RU"/>
              <a:t>Fourth level</a:t>
            </a:r>
          </a:p>
          <a:p>
            <a:pPr lvl="4"/>
            <a:r>
              <a:rPr lang="en-US" altLang="ru-RU"/>
              <a:t>Fifth level</a:t>
            </a: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0" y="50800"/>
            <a:ext cx="9144000" cy="10668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title style</a:t>
            </a: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gray">
          <a:xfrm>
            <a:off x="0" y="1155700"/>
            <a:ext cx="9144000" cy="730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ru-RU" altLang="ru-RU">
              <a:cs typeface="+mn-cs"/>
            </a:endParaRPr>
          </a:p>
        </p:txBody>
      </p:sp>
      <p:sp>
        <p:nvSpPr>
          <p:cNvPr id="1031" name="Line 14"/>
          <p:cNvSpPr>
            <a:spLocks noChangeShapeType="1"/>
          </p:cNvSpPr>
          <p:nvPr/>
        </p:nvSpPr>
        <p:spPr bwMode="gray">
          <a:xfrm>
            <a:off x="0" y="1143000"/>
            <a:ext cx="9144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32" name="Text Box 19"/>
          <p:cNvSpPr txBox="1">
            <a:spLocks noChangeArrowheads="1"/>
          </p:cNvSpPr>
          <p:nvPr/>
        </p:nvSpPr>
        <p:spPr bwMode="auto">
          <a:xfrm>
            <a:off x="4078288" y="5486400"/>
            <a:ext cx="101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ru-RU" altLang="ru-RU">
              <a:cs typeface="+mn-cs"/>
            </a:endParaRPr>
          </a:p>
        </p:txBody>
      </p:sp>
      <p:sp>
        <p:nvSpPr>
          <p:cNvPr id="279572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/>
            </a:lvl1pPr>
          </a:lstStyle>
          <a:p>
            <a:pPr>
              <a:defRPr/>
            </a:pPr>
            <a:fld id="{33B0A099-821F-44A5-8C48-A10B3D63B95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58" r:id="rId2"/>
    <p:sldLayoutId id="2147483859" r:id="rId3"/>
    <p:sldLayoutId id="2147483860" r:id="rId4"/>
    <p:sldLayoutId id="214748387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</p:sldLayoutIdLst>
  <p:transition/>
  <p:hf hdr="0" dt="0"/>
  <p:txStyles>
    <p:titleStyle>
      <a:lvl1pPr marL="374650" indent="-3746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marL="374650" indent="-3746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2pPr>
      <a:lvl3pPr marL="374650" indent="-3746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3pPr>
      <a:lvl4pPr marL="374650" indent="-3746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4pPr>
      <a:lvl5pPr marL="374650" indent="-3746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5pPr>
      <a:lvl6pPr marL="8318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6pPr>
      <a:lvl7pPr marL="12890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7pPr>
      <a:lvl8pPr marL="17462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8pPr>
      <a:lvl9pPr marL="220345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SzPct val="70000"/>
        <a:buFont typeface="Wingdings" panose="05000000000000000000" pitchFamily="2" charset="2"/>
        <a:buChar char="n"/>
        <a:defRPr sz="2800">
          <a:solidFill>
            <a:srgbClr val="99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Char char="–"/>
        <a:defRPr sz="2400">
          <a:solidFill>
            <a:srgbClr val="990000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Char char="•"/>
        <a:defRPr>
          <a:solidFill>
            <a:srgbClr val="990000"/>
          </a:solidFill>
          <a:latin typeface="+mn-lt"/>
        </a:defRPr>
      </a:lvl3pPr>
      <a:lvl4pPr marL="1600200" indent="-2286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SzPct val="50000"/>
        <a:buFont typeface="Wingdings" panose="05000000000000000000" pitchFamily="2" charset="2"/>
        <a:buChar char="n"/>
        <a:defRPr sz="1600">
          <a:solidFill>
            <a:srgbClr val="990000"/>
          </a:solidFill>
          <a:latin typeface="+mn-lt"/>
        </a:defRPr>
      </a:lvl4pPr>
      <a:lvl5pPr marL="2057400" indent="-2286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SzPct val="70000"/>
        <a:buChar char="–"/>
        <a:defRPr sz="1600">
          <a:solidFill>
            <a:srgbClr val="990000"/>
          </a:solidFill>
          <a:latin typeface="+mn-lt"/>
        </a:defRPr>
      </a:lvl5pPr>
      <a:lvl6pPr marL="2514600" indent="-2286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SzPct val="70000"/>
        <a:buChar char="–"/>
        <a:defRPr sz="1600">
          <a:solidFill>
            <a:srgbClr val="990000"/>
          </a:solidFill>
          <a:latin typeface="+mn-lt"/>
        </a:defRPr>
      </a:lvl6pPr>
      <a:lvl7pPr marL="2971800" indent="-2286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SzPct val="70000"/>
        <a:buChar char="–"/>
        <a:defRPr sz="1600">
          <a:solidFill>
            <a:srgbClr val="990000"/>
          </a:solidFill>
          <a:latin typeface="+mn-lt"/>
        </a:defRPr>
      </a:lvl7pPr>
      <a:lvl8pPr marL="3429000" indent="-2286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SzPct val="70000"/>
        <a:buChar char="–"/>
        <a:defRPr sz="1600">
          <a:solidFill>
            <a:srgbClr val="990000"/>
          </a:solidFill>
          <a:latin typeface="+mn-lt"/>
        </a:defRPr>
      </a:lvl8pPr>
      <a:lvl9pPr marL="3886200" indent="-228600" algn="l" rtl="0" eaLnBrk="0" fontAlgn="base" hangingPunct="0">
        <a:lnSpc>
          <a:spcPct val="90000"/>
        </a:lnSpc>
        <a:spcBef>
          <a:spcPct val="30000"/>
        </a:spcBef>
        <a:spcAft>
          <a:spcPct val="10000"/>
        </a:spcAft>
        <a:buClr>
          <a:srgbClr val="CC0000"/>
        </a:buClr>
        <a:buSzPct val="70000"/>
        <a:buChar char="–"/>
        <a:defRPr sz="1600">
          <a:solidFill>
            <a:srgbClr val="990000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29137"/>
            <a:ext cx="9144000" cy="1856863"/>
          </a:xfrm>
          <a:solidFill>
            <a:srgbClr val="FF9900"/>
          </a:solidFill>
        </p:spPr>
        <p:txBody>
          <a:bodyPr/>
          <a:lstStyle/>
          <a:p>
            <a:pPr marL="722313" indent="0" algn="l">
              <a:lnSpc>
                <a:spcPct val="80000"/>
              </a:lnSpc>
            </a:pPr>
            <a:r>
              <a:rPr lang="ru-RU" altLang="ru-RU" sz="4400" dirty="0">
                <a:solidFill>
                  <a:srgbClr val="800000"/>
                </a:solidFill>
              </a:rPr>
              <a:t>Модели данных</a:t>
            </a:r>
            <a:br>
              <a:rPr lang="en-US" altLang="ru-RU" sz="4400" dirty="0">
                <a:solidFill>
                  <a:srgbClr val="800000"/>
                </a:solidFill>
              </a:rPr>
            </a:br>
            <a:r>
              <a:rPr lang="en-US" altLang="ru-RU" sz="2800" dirty="0">
                <a:solidFill>
                  <a:srgbClr val="800000"/>
                </a:solidFill>
              </a:rPr>
              <a:t> </a:t>
            </a:r>
            <a:br>
              <a:rPr lang="ru-RU" altLang="ru-RU" sz="4400" dirty="0">
                <a:solidFill>
                  <a:srgbClr val="800000"/>
                </a:solidFill>
              </a:rPr>
            </a:br>
            <a:r>
              <a:rPr lang="en-US" altLang="ru-RU" sz="3600" dirty="0">
                <a:solidFill>
                  <a:schemeClr val="tx2">
                    <a:lumMod val="75000"/>
                  </a:schemeClr>
                </a:solidFill>
              </a:rPr>
              <a:t>B2</a:t>
            </a:r>
            <a:r>
              <a:rPr lang="ru-RU" altLang="ru-RU" sz="3600" dirty="0">
                <a:solidFill>
                  <a:schemeClr val="tx2">
                    <a:lumMod val="75000"/>
                  </a:schemeClr>
                </a:solidFill>
              </a:rPr>
              <a:t>. Универсальные модели. </a:t>
            </a:r>
            <a:r>
              <a:rPr lang="en-US" altLang="ru-RU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br>
              <a:rPr lang="ru-RU" altLang="ru-RU" sz="3600" dirty="0">
                <a:solidFill>
                  <a:srgbClr val="800000"/>
                </a:solidFill>
              </a:rPr>
            </a:br>
            <a:r>
              <a:rPr lang="ru-RU" altLang="ru-RU" sz="1600" dirty="0">
                <a:solidFill>
                  <a:srgbClr val="800000"/>
                </a:solidFill>
              </a:rPr>
              <a:t> 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380" y="39959"/>
            <a:ext cx="91246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013">
              <a:tabLst>
                <a:tab pos="6283325" algn="l"/>
              </a:tabLst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9.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Универсальные модели данных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.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Модели «сущность – атрибут – значение»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21528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800" b="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Что такое универсальная модель данных?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Переход к метамоделям и </a:t>
            </a:r>
            <a:r>
              <a:rPr lang="ru-RU" sz="1800" b="0" dirty="0" err="1"/>
              <a:t>денормализация</a:t>
            </a:r>
            <a:endParaRPr lang="ru-RU" sz="1800" b="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Сценарии применения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Широкие таблицы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Узкие таблицы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Модели «сущность – атрибут – значение» </a:t>
            </a:r>
            <a:r>
              <a:rPr lang="en-US" sz="1800" b="0" dirty="0"/>
              <a:t>EAV</a:t>
            </a:r>
            <a:endParaRPr lang="ru-RU" sz="1800" b="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Варианты реализации модели </a:t>
            </a:r>
            <a:r>
              <a:rPr lang="en-US" sz="1800" b="0" dirty="0"/>
              <a:t>EAV</a:t>
            </a:r>
            <a:endParaRPr lang="ru-RU" sz="1800" b="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Пример финансовой отчётности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Пример магазина с широкой номенклатурой товаров</a:t>
            </a:r>
            <a:endParaRPr lang="en-US" sz="1800" b="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Достоинства и недостатки модели </a:t>
            </a:r>
            <a:r>
              <a:rPr lang="en-US" sz="1800" b="0" dirty="0"/>
              <a:t>EAV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800" b="0" dirty="0"/>
              <a:t>Альтернативы: применение </a:t>
            </a:r>
            <a:r>
              <a:rPr lang="en-US" sz="1800" b="0" dirty="0"/>
              <a:t>XML</a:t>
            </a:r>
            <a:r>
              <a:rPr lang="ru-RU" sz="1800" b="0" dirty="0"/>
              <a:t> / </a:t>
            </a:r>
            <a:r>
              <a:rPr lang="en-US" sz="1800" b="0" dirty="0"/>
              <a:t>JSON </a:t>
            </a:r>
          </a:p>
          <a:p>
            <a:pPr lvl="1"/>
            <a:r>
              <a:rPr lang="ru-RU" sz="1800" b="0" dirty="0"/>
              <a:t>Вопросы для самопроверки</a:t>
            </a:r>
          </a:p>
        </p:txBody>
      </p:sp>
      <p:sp>
        <p:nvSpPr>
          <p:cNvPr id="5" name="Прямоугольная выноска 4"/>
          <p:cNvSpPr/>
          <p:nvPr/>
        </p:nvSpPr>
        <p:spPr bwMode="auto">
          <a:xfrm>
            <a:off x="7516903" y="1296384"/>
            <a:ext cx="1444752" cy="493776"/>
          </a:xfrm>
          <a:prstGeom prst="wedgeRectCallout">
            <a:avLst>
              <a:gd name="adj1" fmla="val -151212"/>
              <a:gd name="adj2" fmla="val 159219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charset="0"/>
              </a:rPr>
              <a:t>Актуализировать, </a:t>
            </a:r>
            <a:br>
              <a:rPr lang="ru-RU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charset="0"/>
              </a:rPr>
            </a:br>
            <a:r>
              <a:rPr lang="ru-RU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charset="0"/>
              </a:rPr>
              <a:t>когда устоится</a:t>
            </a:r>
            <a:endParaRPr kumimoji="0" lang="ru-RU" sz="1100" b="1" i="0" u="none" strike="noStrike" cap="none" normalizeH="0" baseline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2883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93D215-C329-6A3E-5714-17A027CD54DD}"/>
              </a:ext>
            </a:extLst>
          </p:cNvPr>
          <p:cNvSpPr/>
          <p:nvPr/>
        </p:nvSpPr>
        <p:spPr bwMode="auto">
          <a:xfrm>
            <a:off x="539750" y="1240043"/>
            <a:ext cx="8594560" cy="506868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1800" b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751" y="424084"/>
            <a:ext cx="8077088" cy="694625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Что такое </a:t>
            </a:r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архитектура данных?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gray">
          <a:xfrm>
            <a:off x="8349670" y="6472267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0B29CB-7BEC-47C3-AE1D-10F4E3730F96}" type="slidenum">
              <a:rPr lang="ru-RU" smtClean="0">
                <a:solidFill>
                  <a:schemeClr val="tx1"/>
                </a:solidFill>
              </a:rPr>
              <a:pPr/>
              <a:t>2</a:t>
            </a:fld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5" name="Группа 48">
            <a:extLst>
              <a:ext uri="{FF2B5EF4-FFF2-40B4-BE49-F238E27FC236}">
                <a16:creationId xmlns:a16="http://schemas.microsoft.com/office/drawing/2014/main" id="{2A4873B1-ECE1-498B-BF47-609B3F85FE1F}"/>
              </a:ext>
            </a:extLst>
          </p:cNvPr>
          <p:cNvGrpSpPr>
            <a:grpSpLocks/>
          </p:cNvGrpSpPr>
          <p:nvPr/>
        </p:nvGrpSpPr>
        <p:grpSpPr bwMode="auto">
          <a:xfrm>
            <a:off x="859347" y="1729300"/>
            <a:ext cx="4299513" cy="4126795"/>
            <a:chOff x="1594893" y="1265333"/>
            <a:chExt cx="4944562" cy="491913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40B1D34C-A57E-4F8A-A405-073C568319A5}"/>
                </a:ext>
              </a:extLst>
            </p:cNvPr>
            <p:cNvSpPr/>
            <p:nvPr/>
          </p:nvSpPr>
          <p:spPr bwMode="auto">
            <a:xfrm>
              <a:off x="1594893" y="1265333"/>
              <a:ext cx="4944562" cy="4919134"/>
            </a:xfrm>
            <a:prstGeom prst="ellipse">
              <a:avLst/>
            </a:prstGeom>
            <a:solidFill>
              <a:srgbClr val="EFE581"/>
            </a:solidFill>
            <a:ln w="73025" cap="flat" cmpd="sng" algn="ctr">
              <a:solidFill>
                <a:srgbClr val="F99107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ru-RU" sz="1800" dirty="0">
                <a:latin typeface="Arial" charset="0"/>
              </a:endParaRPr>
            </a:p>
          </p:txBody>
        </p:sp>
        <p:cxnSp>
          <p:nvCxnSpPr>
            <p:cNvPr id="7" name="Прямая соединительная линия 5">
              <a:extLst>
                <a:ext uri="{FF2B5EF4-FFF2-40B4-BE49-F238E27FC236}">
                  <a16:creationId xmlns:a16="http://schemas.microsoft.com/office/drawing/2014/main" id="{8A5C3698-2480-471B-916C-0AEA1973A363}"/>
                </a:ext>
              </a:extLst>
            </p:cNvPr>
            <p:cNvCxnSpPr>
              <a:cxnSpLocks noChangeShapeType="1"/>
              <a:stCxn id="6" idx="0"/>
              <a:endCxn id="6" idx="4"/>
            </p:cNvCxnSpPr>
            <p:nvPr/>
          </p:nvCxnSpPr>
          <p:spPr bwMode="auto">
            <a:xfrm>
              <a:off x="4067174" y="1265333"/>
              <a:ext cx="0" cy="491913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EB73327B-3BA2-4D59-9E5C-E14E510158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57461" y="1771650"/>
              <a:ext cx="3005139" cy="397192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Прямая соединительная линия 9">
              <a:extLst>
                <a:ext uri="{FF2B5EF4-FFF2-40B4-BE49-F238E27FC236}">
                  <a16:creationId xmlns:a16="http://schemas.microsoft.com/office/drawing/2014/main" id="{35EB7DCE-9DEC-4B93-8A95-6A1B052663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09850" y="1771650"/>
              <a:ext cx="2952750" cy="397192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Прямая соединительная линия 11">
              <a:extLst>
                <a:ext uri="{FF2B5EF4-FFF2-40B4-BE49-F238E27FC236}">
                  <a16:creationId xmlns:a16="http://schemas.microsoft.com/office/drawing/2014/main" id="{7E09596F-62E0-4543-A1BC-D8A476AE60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04975" y="3028950"/>
              <a:ext cx="4724400" cy="14478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Прямая соединительная линия 15">
              <a:extLst>
                <a:ext uri="{FF2B5EF4-FFF2-40B4-BE49-F238E27FC236}">
                  <a16:creationId xmlns:a16="http://schemas.microsoft.com/office/drawing/2014/main" id="{1C497457-D9CD-491E-A43F-D2F30313BE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47079" y="2943225"/>
              <a:ext cx="4705350" cy="164782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800A13-BD37-4162-A1B9-A9DBEEAD0F2A}"/>
                </a:ext>
              </a:extLst>
            </p:cNvPr>
            <p:cNvSpPr txBox="1"/>
            <p:nvPr/>
          </p:nvSpPr>
          <p:spPr>
            <a:xfrm>
              <a:off x="2791232" y="1550509"/>
              <a:ext cx="1261129" cy="5339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ru-RU" sz="1050" dirty="0">
                  <a:latin typeface="Arial Narrow" panose="020B0606020202030204" pitchFamily="34" charset="0"/>
                </a:rPr>
                <a:t>Архитектура</a:t>
              </a:r>
              <a:r>
                <a:rPr lang="ru-RU" sz="1050" dirty="0">
                  <a:solidFill>
                    <a:schemeClr val="tx2">
                      <a:lumMod val="50000"/>
                    </a:schemeClr>
                  </a:solidFill>
                  <a:latin typeface="Arial Narrow" panose="020B0606020202030204" pitchFamily="34" charset="0"/>
                </a:rPr>
                <a:t> данных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0616B7-574D-418D-87B4-ED55E838BD09}"/>
                </a:ext>
              </a:extLst>
            </p:cNvPr>
            <p:cNvSpPr txBox="1"/>
            <p:nvPr/>
          </p:nvSpPr>
          <p:spPr>
            <a:xfrm>
              <a:off x="3996860" y="1644539"/>
              <a:ext cx="1885759" cy="7415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ru-RU" sz="1050" dirty="0">
                  <a:latin typeface="Arial Narrow" panose="020B0606020202030204" pitchFamily="34" charset="0"/>
                </a:rPr>
                <a:t>Моделирование</a:t>
              </a:r>
              <a:r>
                <a:rPr lang="ru-RU" sz="1050" dirty="0">
                  <a:solidFill>
                    <a:schemeClr val="tx2">
                      <a:lumMod val="50000"/>
                    </a:schemeClr>
                  </a:solidFill>
                  <a:latin typeface="Arial Narrow" panose="020B0606020202030204" pitchFamily="34" charset="0"/>
                </a:rPr>
                <a:t> </a:t>
              </a:r>
              <a:br>
                <a:rPr lang="ru-RU" sz="1050" dirty="0">
                  <a:solidFill>
                    <a:schemeClr val="tx2">
                      <a:lumMod val="50000"/>
                    </a:schemeClr>
                  </a:solidFill>
                  <a:latin typeface="Arial Narrow" panose="020B0606020202030204" pitchFamily="34" charset="0"/>
                </a:rPr>
              </a:br>
              <a:r>
                <a:rPr lang="ru-RU" sz="1050" dirty="0">
                  <a:solidFill>
                    <a:schemeClr val="tx2">
                      <a:lumMod val="50000"/>
                    </a:schemeClr>
                  </a:solidFill>
                  <a:latin typeface="Arial Narrow" panose="020B0606020202030204" pitchFamily="34" charset="0"/>
                </a:rPr>
                <a:t>и проектирование </a:t>
              </a:r>
              <a:br>
                <a:rPr lang="ru-RU" sz="1050" dirty="0">
                  <a:solidFill>
                    <a:schemeClr val="tx2">
                      <a:lumMod val="50000"/>
                    </a:schemeClr>
                  </a:solidFill>
                  <a:latin typeface="Arial Narrow" panose="020B0606020202030204" pitchFamily="34" charset="0"/>
                </a:rPr>
              </a:br>
              <a:r>
                <a:rPr lang="ru-RU" sz="1050" dirty="0">
                  <a:solidFill>
                    <a:schemeClr val="tx2">
                      <a:lumMod val="50000"/>
                    </a:schemeClr>
                  </a:solidFill>
                  <a:latin typeface="Arial Narrow" panose="020B0606020202030204" pitchFamily="34" charset="0"/>
                </a:rPr>
                <a:t>данных</a:t>
              </a:r>
            </a:p>
          </p:txBody>
        </p:sp>
        <p:sp>
          <p:nvSpPr>
            <p:cNvPr id="14" name="TextBox 33">
              <a:extLst>
                <a:ext uri="{FF2B5EF4-FFF2-40B4-BE49-F238E27FC236}">
                  <a16:creationId xmlns:a16="http://schemas.microsoft.com/office/drawing/2014/main" id="{85228D89-1B64-493E-B1BE-71AE2CA35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5510" y="2278216"/>
              <a:ext cx="1071386" cy="949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888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ru-RU" altLang="ru-RU" sz="1050" dirty="0">
                  <a:latin typeface="Arial Narrow" panose="020B0606020202030204" pitchFamily="34" charset="0"/>
                </a:rPr>
                <a:t>Управление качеством данных</a:t>
              </a:r>
            </a:p>
          </p:txBody>
        </p:sp>
        <p:sp>
          <p:nvSpPr>
            <p:cNvPr id="15" name="TextBox 34">
              <a:extLst>
                <a:ext uri="{FF2B5EF4-FFF2-40B4-BE49-F238E27FC236}">
                  <a16:creationId xmlns:a16="http://schemas.microsoft.com/office/drawing/2014/main" id="{F353381F-676D-4169-8025-E0B29D22B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854" y="3505470"/>
              <a:ext cx="1179296" cy="741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888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ru-RU" altLang="ru-RU" sz="1050" dirty="0">
                  <a:latin typeface="Arial Narrow" panose="020B0606020202030204" pitchFamily="34" charset="0"/>
                </a:rPr>
                <a:t>Управление метаданными</a:t>
              </a:r>
            </a:p>
          </p:txBody>
        </p:sp>
        <p:sp>
          <p:nvSpPr>
            <p:cNvPr id="16" name="TextBox 35">
              <a:extLst>
                <a:ext uri="{FF2B5EF4-FFF2-40B4-BE49-F238E27FC236}">
                  <a16:creationId xmlns:a16="http://schemas.microsoft.com/office/drawing/2014/main" id="{96F21335-69F6-455F-B917-5BA294445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6793" y="4125672"/>
              <a:ext cx="1423829" cy="1156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888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br>
                <a:rPr lang="ru-RU" altLang="ru-RU" sz="1050" dirty="0">
                  <a:latin typeface="Arial Narrow" panose="020B0606020202030204" pitchFamily="34" charset="0"/>
                </a:rPr>
              </a:br>
              <a:r>
                <a:rPr lang="ru-RU" altLang="ru-RU" sz="1050" dirty="0">
                  <a:latin typeface="Arial Narrow" panose="020B0606020202030204" pitchFamily="34" charset="0"/>
                </a:rPr>
                <a:t>    Аналитическая обработка </a:t>
              </a:r>
              <a:br>
                <a:rPr lang="ru-RU" altLang="ru-RU" sz="1050" dirty="0">
                  <a:latin typeface="Arial Narrow" panose="020B0606020202030204" pitchFamily="34" charset="0"/>
                </a:rPr>
              </a:br>
              <a:r>
                <a:rPr lang="ru-RU" altLang="ru-RU" sz="1050" dirty="0">
                  <a:latin typeface="Arial Narrow" panose="020B0606020202030204" pitchFamily="34" charset="0"/>
                </a:rPr>
                <a:t>данных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6D80E367-8BC9-4483-996B-34479F239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766" y="4964985"/>
              <a:ext cx="1494897" cy="949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888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ru-RU" altLang="ru-RU" sz="1050" dirty="0">
                  <a:latin typeface="Arial Narrow" panose="020B0606020202030204" pitchFamily="34" charset="0"/>
                </a:rPr>
                <a:t>Управление справочными и реестровыми данными</a:t>
              </a:r>
            </a:p>
          </p:txBody>
        </p:sp>
        <p:sp>
          <p:nvSpPr>
            <p:cNvPr id="18" name="TextBox 38">
              <a:extLst>
                <a:ext uri="{FF2B5EF4-FFF2-40B4-BE49-F238E27FC236}">
                  <a16:creationId xmlns:a16="http://schemas.microsoft.com/office/drawing/2014/main" id="{7197E329-7481-4EAF-8930-E19EDDA74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8114" y="4994413"/>
              <a:ext cx="1323841" cy="741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ru-RU" altLang="ru-RU" sz="1050" dirty="0">
                  <a:latin typeface="Arial Narrow" panose="020B0606020202030204" pitchFamily="34" charset="0"/>
                </a:rPr>
                <a:t>Управление документами </a:t>
              </a:r>
              <a:br>
                <a:rPr lang="ru-RU" altLang="ru-RU" sz="1050" dirty="0">
                  <a:latin typeface="Arial Narrow" panose="020B0606020202030204" pitchFamily="34" charset="0"/>
                </a:rPr>
              </a:br>
              <a:r>
                <a:rPr lang="ru-RU" altLang="ru-RU" sz="1050" dirty="0">
                  <a:latin typeface="Arial Narrow" panose="020B0606020202030204" pitchFamily="34" charset="0"/>
                </a:rPr>
                <a:t>и контентом</a:t>
              </a:r>
            </a:p>
          </p:txBody>
        </p:sp>
        <p:sp>
          <p:nvSpPr>
            <p:cNvPr id="19" name="TextBox 43">
              <a:extLst>
                <a:ext uri="{FF2B5EF4-FFF2-40B4-BE49-F238E27FC236}">
                  <a16:creationId xmlns:a16="http://schemas.microsoft.com/office/drawing/2014/main" id="{67DC67B7-B878-46EF-B946-8EC241269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4917" y="4262608"/>
              <a:ext cx="1666875" cy="949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888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ru-RU" altLang="ru-RU" sz="1050">
                  <a:latin typeface="Arial Narrow" panose="020B0606020202030204" pitchFamily="34" charset="0"/>
                </a:rPr>
                <a:t>Интеграция </a:t>
              </a:r>
              <a:br>
                <a:rPr lang="ru-RU" altLang="ru-RU" sz="1050">
                  <a:latin typeface="Arial Narrow" panose="020B0606020202030204" pitchFamily="34" charset="0"/>
                </a:rPr>
              </a:br>
              <a:r>
                <a:rPr lang="ru-RU" altLang="ru-RU" sz="1050">
                  <a:latin typeface="Arial Narrow" panose="020B0606020202030204" pitchFamily="34" charset="0"/>
                </a:rPr>
                <a:t>   данных и интер-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ru-RU" altLang="ru-RU" sz="1050">
                  <a:latin typeface="Arial Narrow" panose="020B0606020202030204" pitchFamily="34" charset="0"/>
                </a:rPr>
                <a:t>      операбельность</a:t>
              </a:r>
            </a:p>
          </p:txBody>
        </p:sp>
        <p:sp>
          <p:nvSpPr>
            <p:cNvPr id="20" name="TextBox 44">
              <a:extLst>
                <a:ext uri="{FF2B5EF4-FFF2-40B4-BE49-F238E27FC236}">
                  <a16:creationId xmlns:a16="http://schemas.microsoft.com/office/drawing/2014/main" id="{153A2353-E24C-497A-84B6-6D2BBD2EF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4141" y="3551204"/>
              <a:ext cx="1337543" cy="533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/>
              <a:r>
                <a:rPr lang="ru-RU" altLang="ru-RU" sz="1050">
                  <a:latin typeface="Arial Narrow" panose="020B0606020202030204" pitchFamily="34" charset="0"/>
                </a:rPr>
                <a:t>Защита данных</a:t>
              </a:r>
            </a:p>
          </p:txBody>
        </p:sp>
        <p:sp>
          <p:nvSpPr>
            <p:cNvPr id="21" name="TextBox 45">
              <a:extLst>
                <a:ext uri="{FF2B5EF4-FFF2-40B4-BE49-F238E27FC236}">
                  <a16:creationId xmlns:a16="http://schemas.microsoft.com/office/drawing/2014/main" id="{690ECB0E-DC2A-4307-9135-8B96A7B4E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7366" y="2415831"/>
              <a:ext cx="1030630" cy="1156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ru-RU" altLang="ru-RU" sz="1050" dirty="0">
                  <a:latin typeface="Arial Narrow" panose="020B0606020202030204" pitchFamily="34" charset="0"/>
                </a:rPr>
                <a:t>Хранение    </a:t>
              </a:r>
              <a:br>
                <a:rPr lang="ru-RU" altLang="ru-RU" sz="1050" dirty="0">
                  <a:latin typeface="Arial Narrow" panose="020B0606020202030204" pitchFamily="34" charset="0"/>
                </a:rPr>
              </a:br>
              <a:r>
                <a:rPr lang="ru-RU" altLang="ru-RU" sz="1050" dirty="0">
                  <a:latin typeface="Arial Narrow" panose="020B0606020202030204" pitchFamily="34" charset="0"/>
                </a:rPr>
                <a:t>и операции </a:t>
              </a:r>
              <a:br>
                <a:rPr lang="ru-RU" altLang="ru-RU" sz="1050" dirty="0">
                  <a:latin typeface="Arial Narrow" panose="020B0606020202030204" pitchFamily="34" charset="0"/>
                </a:rPr>
              </a:br>
              <a:r>
                <a:rPr lang="ru-RU" altLang="ru-RU" sz="1050" dirty="0">
                  <a:latin typeface="Arial Narrow" panose="020B0606020202030204" pitchFamily="34" charset="0"/>
                </a:rPr>
                <a:t>с данными</a:t>
              </a:r>
            </a:p>
          </p:txBody>
        </p:sp>
        <p:sp>
          <p:nvSpPr>
            <p:cNvPr id="22" name="Овал 46">
              <a:extLst>
                <a:ext uri="{FF2B5EF4-FFF2-40B4-BE49-F238E27FC236}">
                  <a16:creationId xmlns:a16="http://schemas.microsoft.com/office/drawing/2014/main" id="{3D8496AF-9E5A-4E8D-BE83-DF676ECD4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650" y="2921768"/>
              <a:ext cx="1533525" cy="1543050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888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ru-RU" altLang="ru-RU" sz="1050">
                <a:latin typeface="Arial Narrow" panose="020B0606020202030204" pitchFamily="34" charset="0"/>
              </a:endParaRPr>
            </a:p>
          </p:txBody>
        </p:sp>
        <p:sp>
          <p:nvSpPr>
            <p:cNvPr id="23" name="TextBox 47">
              <a:extLst>
                <a:ext uri="{FF2B5EF4-FFF2-40B4-BE49-F238E27FC236}">
                  <a16:creationId xmlns:a16="http://schemas.microsoft.com/office/drawing/2014/main" id="{E5D928C1-BFB5-4F6B-B34C-A4DD3BD9A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633" y="3209216"/>
              <a:ext cx="1695450" cy="949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888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45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ru-RU" altLang="ru-RU" sz="1050" dirty="0">
                  <a:latin typeface="Arial Narrow" panose="020B0606020202030204" pitchFamily="34" charset="0"/>
                </a:rPr>
                <a:t>Регулирование </a:t>
              </a:r>
              <a:br>
                <a:rPr lang="ru-RU" altLang="ru-RU" sz="1050" dirty="0">
                  <a:latin typeface="Arial Narrow" panose="020B0606020202030204" pitchFamily="34" charset="0"/>
                </a:rPr>
              </a:br>
              <a:r>
                <a:rPr lang="ru-RU" altLang="ru-RU" sz="1050" dirty="0">
                  <a:latin typeface="Arial Narrow" panose="020B0606020202030204" pitchFamily="34" charset="0"/>
                </a:rPr>
                <a:t>в сфере управления данными</a:t>
              </a:r>
            </a:p>
          </p:txBody>
        </p:sp>
      </p:grp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F92E0A5-DF4C-41DC-8DBF-7D1A24A25385}"/>
              </a:ext>
            </a:extLst>
          </p:cNvPr>
          <p:cNvSpPr/>
          <p:nvPr/>
        </p:nvSpPr>
        <p:spPr>
          <a:xfrm>
            <a:off x="5091066" y="1369203"/>
            <a:ext cx="4104383" cy="501162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00025" indent="-200025" defTabSz="342900">
              <a:spcBef>
                <a:spcPts val="75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ru-RU" altLang="ru-RU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 данных</a:t>
            </a:r>
            <a:br>
              <a:rPr lang="ru-RU" altLang="ru-RU" sz="20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образует фундамент управления данными. Удовлетворяет насущную потребность </a:t>
            </a:r>
            <a:br>
              <a:rPr lang="en-US" sz="20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их представлении на разных уровнях абстракции так, чтобы они были понимаемы бизнесом </a:t>
            </a:r>
            <a:br>
              <a:rPr lang="en-US" sz="20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руководство могло принимать относительно этих данных соответствующие решения. </a:t>
            </a:r>
          </a:p>
          <a:p>
            <a:pPr defTabSz="342900">
              <a:spcBef>
                <a:spcPts val="750"/>
              </a:spcBef>
              <a:buClr>
                <a:schemeClr val="accent1"/>
              </a:buClr>
            </a:pPr>
            <a:r>
              <a:rPr lang="ru-RU" sz="20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Архитектура данных включает:</a:t>
            </a:r>
            <a:endParaRPr lang="ru-RU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defTabSz="342900">
              <a:spcBef>
                <a:spcPts val="75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Корпоративная модель данных</a:t>
            </a:r>
          </a:p>
          <a:p>
            <a:pPr marL="285750" indent="-285750" defTabSz="342900">
              <a:spcBef>
                <a:spcPts val="75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Схемы потоков данных </a:t>
            </a:r>
            <a:br>
              <a:rPr lang="ru-RU" sz="1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и их преобразований</a:t>
            </a:r>
          </a:p>
          <a:p>
            <a:pPr marL="200025" indent="-200025" defTabSz="342900">
              <a:spcBef>
                <a:spcPts val="750"/>
              </a:spcBef>
              <a:buClr>
                <a:schemeClr val="accent1"/>
              </a:buClr>
              <a:buFont typeface="Wingdings 3" charset="2"/>
              <a:buChar char=""/>
            </a:pPr>
            <a:endParaRPr lang="ru-RU" sz="1500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4A11FAC2-E647-4901-A5F3-B51BE3CAF724}"/>
              </a:ext>
            </a:extLst>
          </p:cNvPr>
          <p:cNvSpPr/>
          <p:nvPr/>
        </p:nvSpPr>
        <p:spPr bwMode="auto">
          <a:xfrm rot="266471">
            <a:off x="2068404" y="1788502"/>
            <a:ext cx="2001261" cy="1136978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336947" eaLnBrk="1">
              <a:lnSpc>
                <a:spcPct val="93000"/>
              </a:lnSpc>
              <a:buClr>
                <a:srgbClr val="000000"/>
              </a:buClr>
              <a:buSzPct val="100000"/>
            </a:pPr>
            <a:endParaRPr lang="ru-RU" sz="1350" b="0">
              <a:solidFill>
                <a:schemeClr val="bg1"/>
              </a:solidFill>
              <a:ea typeface="Microsoft YaHei" panose="020B0503020204020204" pitchFamily="34" charset="-122"/>
            </a:endParaRPr>
          </a:p>
        </p:txBody>
      </p:sp>
      <p:sp>
        <p:nvSpPr>
          <p:cNvPr id="32" name="Номер слайда 2">
            <a:extLst>
              <a:ext uri="{FF2B5EF4-FFF2-40B4-BE49-F238E27FC236}">
                <a16:creationId xmlns:a16="http://schemas.microsoft.com/office/drawing/2014/main" id="{92408332-7176-4CEF-9089-FA62D27CE187}"/>
              </a:ext>
            </a:extLst>
          </p:cNvPr>
          <p:cNvSpPr txBox="1">
            <a:spLocks/>
          </p:cNvSpPr>
          <p:nvPr/>
        </p:nvSpPr>
        <p:spPr bwMode="gray">
          <a:xfrm>
            <a:off x="8243679" y="7116968"/>
            <a:ext cx="373159" cy="289634"/>
          </a:xfrm>
          <a:prstGeom prst="rect">
            <a:avLst/>
          </a:prstGeom>
          <a:noFill/>
          <a:ln>
            <a:noFill/>
          </a:ln>
        </p:spPr>
        <p:txBody>
          <a:bodyPr vert="horz" lIns="68580" tIns="34290" rIns="68580" bIns="3429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1500"/>
              <a:t>1</a:t>
            </a:r>
            <a:endParaRPr lang="ru-RU" altLang="ru-RU" sz="15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250468" y="1309114"/>
            <a:ext cx="14383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ru-RU" altLang="ru-RU" sz="1200" dirty="0">
                <a:solidFill>
                  <a:srgbClr val="002060"/>
                </a:solidFill>
              </a:rPr>
              <a:t>Области </a:t>
            </a:r>
            <a:br>
              <a:rPr lang="ru-RU" altLang="ru-RU" sz="1200" dirty="0">
                <a:solidFill>
                  <a:srgbClr val="002060"/>
                </a:solidFill>
              </a:rPr>
            </a:br>
            <a:r>
              <a:rPr lang="ru-RU" altLang="ru-RU" sz="1200" dirty="0">
                <a:solidFill>
                  <a:srgbClr val="002060"/>
                </a:solidFill>
              </a:rPr>
              <a:t>управления </a:t>
            </a:r>
            <a:br>
              <a:rPr lang="ru-RU" altLang="ru-RU" sz="1200" dirty="0">
                <a:solidFill>
                  <a:srgbClr val="002060"/>
                </a:solidFill>
              </a:rPr>
            </a:br>
            <a:r>
              <a:rPr lang="ru-RU" altLang="ru-RU" sz="1200" dirty="0">
                <a:solidFill>
                  <a:srgbClr val="002060"/>
                </a:solidFill>
              </a:rPr>
              <a:t>данными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AC6A36F-DB1D-4821-816C-24E05AB8F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671" y="33138"/>
            <a:ext cx="1043766" cy="135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8079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4635-7952-1FD9-A901-E8321811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369E849-62D9-BAAD-091C-535056AFF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F3538A2-65A9-E0B8-A961-DC517949A2D2}"/>
              </a:ext>
            </a:extLst>
          </p:cNvPr>
          <p:cNvSpPr/>
          <p:nvPr/>
        </p:nvSpPr>
        <p:spPr>
          <a:xfrm>
            <a:off x="19380" y="505760"/>
            <a:ext cx="91246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013">
              <a:tabLst>
                <a:tab pos="6283325" algn="l"/>
              </a:tabLs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Корпоративная модель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0AB17AC-7E6F-EA1A-EDB8-8F99A78A02D5}"/>
              </a:ext>
            </a:extLst>
          </p:cNvPr>
          <p:cNvSpPr/>
          <p:nvPr/>
        </p:nvSpPr>
        <p:spPr bwMode="auto">
          <a:xfrm>
            <a:off x="539750" y="1225295"/>
            <a:ext cx="8594560" cy="509276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1800" b="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17C9E2E-E6A6-0922-D6E0-0DBE16FC2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4440" y="1921924"/>
            <a:ext cx="2146208" cy="424731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Char char="–"/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</a:rPr>
              <a:t>Концептуальный обзор всех предметных областей  корпорации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ru-RU" sz="1400" b="0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ru-RU" altLang="ru-RU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</a:rPr>
              <a:t>Концептуальное представление сущностей и связей  для каждой предметной области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ru-RU" sz="1800" b="0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</a:rPr>
              <a:t>Логическое представление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</a:rPr>
              <a:t>для каждой предметной  области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ru-RU" b="0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</a:rPr>
              <a:t>Подробные логические и физические модели данных, специфичные для реализации приложений или проектов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152E0C-4803-6AB4-05A5-6DEDE0EC2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648" y="1225296"/>
            <a:ext cx="4433602" cy="5039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C0EC7C-41F7-F048-A5A8-D6C1549C4B99}"/>
              </a:ext>
            </a:extLst>
          </p:cNvPr>
          <p:cNvSpPr txBox="1"/>
          <p:nvPr/>
        </p:nvSpPr>
        <p:spPr>
          <a:xfrm rot="21600000">
            <a:off x="5164986" y="6004957"/>
            <a:ext cx="3095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модели, </a:t>
            </a:r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RDF</a:t>
            </a:r>
            <a:r>
              <a:rPr lang="ru-RU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таксономия</a:t>
            </a:r>
            <a:endParaRPr lang="ru-RU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8772D-9AE2-44E7-4EA8-91D40E33B9FC}"/>
              </a:ext>
            </a:extLst>
          </p:cNvPr>
          <p:cNvSpPr txBox="1"/>
          <p:nvPr/>
        </p:nvSpPr>
        <p:spPr>
          <a:xfrm>
            <a:off x="553713" y="1180252"/>
            <a:ext cx="3616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663"/>
            <a:r>
              <a:rPr lang="ru-RU" sz="1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Здесь широко используются универсальные модели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36029923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4438" y="-17916"/>
            <a:ext cx="91246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013">
              <a:tabLst>
                <a:tab pos="6283325" algn="l"/>
              </a:tabLst>
            </a:pP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Моделирование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 </a:t>
            </a:r>
            <a:br>
              <a:rPr lang="ru-RU" sz="32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</a:br>
            <a:r>
              <a:rPr lang="ru-RU" sz="3600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предметных областей</a:t>
            </a:r>
            <a:endParaRPr lang="ru-RU" sz="3200" dirty="0">
              <a:solidFill>
                <a:schemeClr val="tx2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25002" y="1244559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r>
              <a:rPr lang="ru-RU" b="0" dirty="0">
                <a:solidFill>
                  <a:schemeClr val="tx2">
                    <a:lumMod val="75000"/>
                  </a:schemeClr>
                </a:solidFill>
              </a:rPr>
              <a:t>Универсальные модели важны</a:t>
            </a:r>
          </a:p>
          <a:p>
            <a:pPr lvl="1"/>
            <a:r>
              <a:rPr lang="ru-RU" b="0" dirty="0">
                <a:solidFill>
                  <a:schemeClr val="tx2">
                    <a:lumMod val="75000"/>
                  </a:schemeClr>
                </a:solidFill>
              </a:rPr>
              <a:t>для описания предметных областей</a:t>
            </a:r>
            <a:endParaRPr lang="en-US" b="0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endParaRPr lang="en-US" b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3C049C-FB1B-EDC6-20B4-A65FBCDF1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1" y="2402404"/>
            <a:ext cx="8594560" cy="317090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C2FCB0-C883-6EBE-3AED-55C46681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670" y="7366"/>
            <a:ext cx="1538891" cy="197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807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Традиционные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 модели данных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722313" lvl="2" indent="-342900">
              <a:buFont typeface="Wingdings" panose="05000000000000000000" pitchFamily="2" charset="2"/>
              <a:buChar char="§"/>
            </a:pP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Ориентированы на создание БД для </a:t>
            </a:r>
            <a:r>
              <a:rPr lang="ru-RU" sz="1800" b="0" i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узкого применения</a:t>
            </a: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 </a:t>
            </a:r>
          </a:p>
          <a:p>
            <a:pPr marL="722313" lvl="2" indent="-342900">
              <a:buFont typeface="Wingdings" panose="05000000000000000000" pitchFamily="2" charset="2"/>
              <a:buChar char="§"/>
            </a:pPr>
            <a:r>
              <a:rPr lang="ru-RU" sz="1800" b="0" i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Затрудняют адаптацию </a:t>
            </a: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структуры и состава данных </a:t>
            </a:r>
          </a:p>
          <a:p>
            <a:pPr marL="722313" lvl="2" indent="-342900">
              <a:buFont typeface="Wingdings" panose="05000000000000000000" pitchFamily="2" charset="2"/>
              <a:buChar char="§"/>
            </a:pP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Добавление атрибута или сущности </a:t>
            </a:r>
            <a:r>
              <a:rPr lang="ru-RU" sz="1800" b="0" i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приводит к реорганизации </a:t>
            </a: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схемы</a:t>
            </a:r>
          </a:p>
          <a:p>
            <a:pPr marL="722313" lvl="2" indent="-342900">
              <a:buFont typeface="Wingdings" panose="05000000000000000000" pitchFamily="2" charset="2"/>
              <a:buChar char="§"/>
            </a:pPr>
            <a:r>
              <a:rPr lang="ru-RU" sz="1800" b="0" i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Нельзя использовать</a:t>
            </a: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 модель </a:t>
            </a:r>
            <a:r>
              <a:rPr lang="ru-RU" sz="1800" b="0" i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для разных предметных областей</a:t>
            </a:r>
            <a:endParaRPr lang="ru-RU" sz="1800" b="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722313" lvl="2" indent="-342900">
              <a:buFont typeface="Wingdings" panose="05000000000000000000" pitchFamily="2" charset="2"/>
              <a:buChar char="§"/>
            </a:pPr>
            <a:r>
              <a:rPr lang="ru-RU" sz="1800" b="0" i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Специализированы </a:t>
            </a: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для предметной области и </a:t>
            </a:r>
            <a:r>
              <a:rPr lang="ru-RU" sz="1800" b="0" i="1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неуниверсальны</a:t>
            </a: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:</a:t>
            </a:r>
          </a:p>
          <a:p>
            <a:pPr marL="1076325" lvl="3" indent="-342900">
              <a:buFont typeface="Symbol" panose="05050102010706020507" pitchFamily="18" charset="2"/>
              <a:buChar char=""/>
              <a:tabLst>
                <a:tab pos="457200" algn="l"/>
              </a:tabLst>
            </a:pP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определённой бизнес-сущности соответствует таблица</a:t>
            </a:r>
          </a:p>
          <a:p>
            <a:pPr marL="1076325" lvl="3" indent="-342900">
              <a:buFont typeface="Symbol" panose="05050102010706020507" pitchFamily="18" charset="2"/>
              <a:buChar char=""/>
              <a:tabLst>
                <a:tab pos="457200" algn="l"/>
              </a:tabLst>
            </a:pP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каждый экземпляр сущности – запись в таблице </a:t>
            </a:r>
          </a:p>
          <a:p>
            <a:pPr marL="1076325" lvl="3" indent="-342900">
              <a:buFont typeface="Symbol" panose="05050102010706020507" pitchFamily="18" charset="2"/>
              <a:buChar char=""/>
              <a:tabLst>
                <a:tab pos="457200" algn="l"/>
              </a:tabLst>
            </a:pP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каждый атрибут экземпляра сущности – колонка  таблицы</a:t>
            </a:r>
          </a:p>
          <a:p>
            <a:pPr marL="1076325" lvl="3" indent="-342900">
              <a:buFont typeface="Symbol" panose="05050102010706020507" pitchFamily="18" charset="2"/>
              <a:buChar char=""/>
              <a:tabLst>
                <a:tab pos="457200" algn="l"/>
              </a:tabLst>
            </a:pPr>
            <a:r>
              <a:rPr lang="ru-RU" sz="1800" b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FF"/>
                </a:highlight>
                <a:latin typeface="+mn-lt"/>
              </a:rPr>
              <a:t>каждое значение – в своей ячейке таблицы.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83DCD2-0315-D315-66F8-3F776660B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44" y="3747599"/>
            <a:ext cx="8445772" cy="2526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F2F68-21B6-5646-D4B2-35603C963934}"/>
              </a:ext>
            </a:extLst>
          </p:cNvPr>
          <p:cNvSpPr txBox="1"/>
          <p:nvPr/>
        </p:nvSpPr>
        <p:spPr>
          <a:xfrm>
            <a:off x="1105688" y="6244304"/>
            <a:ext cx="7462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Появилась потребность в более гибких структурах данных, </a:t>
            </a:r>
            <a:br>
              <a:rPr lang="ru-RU" sz="1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в частности, для накопления данных в хранилищах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3763460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6</a:t>
            </a:fld>
            <a:endParaRPr lang="ru-RU" alt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Что такое </a:t>
            </a: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универсальная </a:t>
            </a:r>
            <a:br>
              <a:rPr lang="en-US" sz="3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модель данных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lvl="1"/>
            <a:r>
              <a:rPr lang="ru-RU" b="0" i="1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Универсальная модель данных (УМД) представляет собой стандартную </a:t>
            </a:r>
            <a: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реляционную модель </a:t>
            </a:r>
            <a:b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</a:br>
            <a: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для гибкого представления разных наборов данных </a:t>
            </a:r>
            <a:b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</a:br>
            <a: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и / или определённые приёмы </a:t>
            </a:r>
            <a:r>
              <a:rPr lang="ru-RU" b="0" i="1" dirty="0" err="1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метамоделирования</a:t>
            </a:r>
            <a: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 </a:t>
            </a:r>
            <a:b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</a:br>
            <a:r>
              <a:rPr lang="ru-RU" b="0" i="1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с помощью стандартных компонентов. </a:t>
            </a:r>
            <a:endParaRPr lang="ru-RU" b="0" i="1" dirty="0">
              <a:solidFill>
                <a:schemeClr val="tx2">
                  <a:lumMod val="7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sz="10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442913">
              <a:spcAft>
                <a:spcPts val="60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Два основных вида УМД: </a:t>
            </a:r>
          </a:p>
          <a:p>
            <a:pPr marL="1076325" indent="-354013">
              <a:spcAft>
                <a:spcPts val="600"/>
              </a:spcAft>
              <a:buFont typeface="+mj-lt"/>
              <a:buAutoNum type="arabicPeriod"/>
            </a:pPr>
            <a:r>
              <a:rPr lang="ru-RU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Создание и расширение </a:t>
            </a:r>
            <a:r>
              <a:rPr lang="ru-RU" sz="2000" b="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</a:rPr>
              <a:t>УМД с </a:t>
            </a:r>
            <a:r>
              <a:rPr lang="ru-RU" sz="2000" b="0" i="1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</a:rPr>
              <a:t>фиксированным набором таблиц</a:t>
            </a:r>
            <a:r>
              <a:rPr lang="ru-RU" sz="2000" b="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</a:rPr>
              <a:t> требует только добавления </a:t>
            </a:r>
            <a:r>
              <a:rPr lang="ru-RU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новых записей </a:t>
            </a:r>
            <a:br>
              <a:rPr lang="ru-RU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</a:br>
            <a:r>
              <a:rPr lang="ru-RU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в существующие таблицы без изменения структуры данных.</a:t>
            </a:r>
          </a:p>
          <a:p>
            <a:pPr marL="1076325" indent="-354013">
              <a:spcAft>
                <a:spcPts val="600"/>
              </a:spcAft>
              <a:buFont typeface="+mj-lt"/>
              <a:buAutoNum type="arabicPeriod"/>
            </a:pPr>
            <a:r>
              <a:rPr lang="ru-RU" sz="2000" b="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</a:rPr>
              <a:t>Создание и расширение УМД путём соединения </a:t>
            </a:r>
            <a:r>
              <a:rPr lang="ru-RU" sz="2000" b="0" i="1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</a:rPr>
              <a:t>типовых компонентов метамодели по определённым правилам</a:t>
            </a:r>
            <a:r>
              <a:rPr lang="ru-RU" sz="2000" b="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</a:rPr>
              <a:t>.</a:t>
            </a:r>
          </a:p>
          <a:p>
            <a:pPr marL="176212">
              <a:spcAft>
                <a:spcPts val="600"/>
              </a:spcAft>
            </a:pPr>
            <a:endParaRPr lang="ru-RU" sz="2000" b="0" dirty="0">
              <a:solidFill>
                <a:srgbClr val="000000"/>
              </a:solidFill>
              <a:highlight>
                <a:srgbClr val="FFFFFF"/>
              </a:highlight>
              <a:latin typeface="+mn-lt"/>
            </a:endParaRPr>
          </a:p>
          <a:p>
            <a:pPr lvl="1"/>
            <a:endParaRPr lang="ru-RU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36BC3-FB92-D098-A347-07F18C8F5DAE}"/>
              </a:ext>
            </a:extLst>
          </p:cNvPr>
          <p:cNvSpPr txBox="1"/>
          <p:nvPr/>
        </p:nvSpPr>
        <p:spPr>
          <a:xfrm>
            <a:off x="7726195" y="550451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1547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533781"/>
            <a:ext cx="9134310" cy="5909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Возможности и особенности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Результат </a:t>
            </a:r>
            <a:r>
              <a:rPr lang="ru-RU" sz="2700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стандартизации</a:t>
            </a:r>
            <a:r>
              <a:rPr lang="ru-RU" sz="27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 моделей данных</a:t>
            </a:r>
          </a:p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Обобщение</a:t>
            </a:r>
            <a:r>
              <a:rPr lang="ru-RU" sz="27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 традиционных моделей данных</a:t>
            </a:r>
          </a:p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Переход к </a:t>
            </a:r>
            <a:r>
              <a:rPr lang="ru-RU" sz="27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метамоделям</a:t>
            </a:r>
            <a:r>
              <a:rPr lang="ru-RU" sz="27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 данных</a:t>
            </a:r>
            <a:endParaRPr lang="ru-RU" sz="27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Структура может </a:t>
            </a:r>
            <a:r>
              <a:rPr lang="ru-RU" sz="2700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не зависеть от набора данных </a:t>
            </a:r>
          </a:p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Настройка </a:t>
            </a:r>
            <a:r>
              <a:rPr lang="ru-RU" sz="2700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для разных предметных областей</a:t>
            </a:r>
            <a:r>
              <a:rPr lang="ru-RU" sz="27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 </a:t>
            </a:r>
          </a:p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Прототипирование</a:t>
            </a:r>
            <a:r>
              <a:rPr lang="ru-RU" sz="27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 решений по БД</a:t>
            </a:r>
          </a:p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Сокращению затрат </a:t>
            </a:r>
            <a:r>
              <a:rPr lang="ru-RU" sz="27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на создание </a:t>
            </a:r>
            <a:r>
              <a:rPr lang="en-US" sz="27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/</a:t>
            </a:r>
            <a:r>
              <a:rPr lang="ru-RU" sz="27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 развитие БД</a:t>
            </a:r>
          </a:p>
          <a:p>
            <a:pPr marL="530225" lvl="1" indent="-35401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7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С</a:t>
            </a:r>
            <a:r>
              <a:rPr lang="ru-RU" sz="2700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пециализация в</a:t>
            </a:r>
            <a:r>
              <a:rPr lang="ru-RU" sz="27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 противоположность обобщению.</a:t>
            </a:r>
            <a:endParaRPr lang="ru-RU" sz="2700" b="0" i="0" dirty="0">
              <a:solidFill>
                <a:schemeClr val="tx2">
                  <a:lumMod val="7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F8C91-C35F-749E-6384-C227308AF092}"/>
              </a:ext>
            </a:extLst>
          </p:cNvPr>
          <p:cNvSpPr txBox="1"/>
          <p:nvPr/>
        </p:nvSpPr>
        <p:spPr>
          <a:xfrm>
            <a:off x="7298495" y="506080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25007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B190-CB74-C27C-A85A-39CBAE14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95BB3C1-471C-B789-EAFE-42EF6324D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F0653B-7CE6-31BA-EB12-BF8D16A89F5A}"/>
              </a:ext>
            </a:extLst>
          </p:cNvPr>
          <p:cNvSpPr/>
          <p:nvPr/>
        </p:nvSpPr>
        <p:spPr>
          <a:xfrm>
            <a:off x="0" y="-75617"/>
            <a:ext cx="913431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Приёмы стандартизации </a:t>
            </a:r>
            <a:br>
              <a:rPr lang="ru-RU" sz="3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и обобщения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 моделей данных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5A9695-D2DE-1130-7E23-BAC063182FFF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530225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sz="2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Обобщение подобных бизнес-сущностей путём </a:t>
            </a:r>
            <a:r>
              <a:rPr lang="ru-RU" sz="2800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объединения в общую бизнес-сущность</a:t>
            </a:r>
          </a:p>
          <a:p>
            <a:pPr marL="530225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sz="28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Стандартизация линейных </a:t>
            </a:r>
            <a:r>
              <a:rPr lang="ru-RU" sz="2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классификаторов путём </a:t>
            </a:r>
            <a:r>
              <a:rPr lang="ru-RU" sz="2800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объединения в один справочник</a:t>
            </a:r>
          </a:p>
          <a:p>
            <a:pPr marL="530225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sz="28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Стандартизация иерархических справочников в виде </a:t>
            </a:r>
            <a:r>
              <a:rPr lang="ru-RU" sz="28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рекурсивных моделей данных </a:t>
            </a:r>
          </a:p>
          <a:p>
            <a:pPr marL="530225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sz="28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Обобщение связей бизнес-сущностей путём </a:t>
            </a:r>
            <a:br>
              <a:rPr lang="ru-RU" sz="28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</a:br>
            <a:r>
              <a:rPr lang="ru-RU" sz="2800" b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n-lt"/>
              </a:rPr>
              <a:t>их </a:t>
            </a:r>
            <a:r>
              <a:rPr lang="ru-RU" sz="2800" b="0" dirty="0">
                <a:solidFill>
                  <a:schemeClr val="tx2">
                    <a:lumMod val="75000"/>
                  </a:schemeClr>
                </a:solidFill>
                <a:highlight>
                  <a:srgbClr val="FFFFFF"/>
                </a:highlight>
                <a:latin typeface="+mn-lt"/>
              </a:rPr>
              <a:t>з</a:t>
            </a:r>
            <a:r>
              <a:rPr lang="ru-RU" sz="2800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амены кросс-сущностями</a:t>
            </a:r>
            <a:r>
              <a:rPr lang="ru-RU" sz="2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n-lt"/>
              </a:rPr>
              <a:t>. </a:t>
            </a: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24FED-7A04-6DF7-DD42-C4259F4D53DF}"/>
              </a:ext>
            </a:extLst>
          </p:cNvPr>
          <p:cNvSpPr txBox="1"/>
          <p:nvPr/>
        </p:nvSpPr>
        <p:spPr>
          <a:xfrm>
            <a:off x="7696702" y="478381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20398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84417-D8C5-4CB6-9B88-B93452FE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1E591C-D64C-8EF2-C71D-80816EF03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9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1EB00E-7FCA-8DDB-4FEB-455A739BDE8B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Обобщение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подобных бизнес-сущностей</a:t>
            </a: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(1)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A11FB3-6D0D-0C42-44E6-72BF458AEB89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974646E-66FA-0679-66BA-4AB6BC937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76" y="1226908"/>
            <a:ext cx="6310630" cy="5048503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DAA0EF9D-8B14-6E34-A075-71BEA99CAD67}"/>
              </a:ext>
            </a:extLst>
          </p:cNvPr>
          <p:cNvSpPr/>
          <p:nvPr/>
        </p:nvSpPr>
        <p:spPr bwMode="auto">
          <a:xfrm>
            <a:off x="4603032" y="3917990"/>
            <a:ext cx="1576552" cy="1828800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8FAD358F-0780-1419-9B44-196764FFC102}"/>
              </a:ext>
            </a:extLst>
          </p:cNvPr>
          <p:cNvSpPr/>
          <p:nvPr/>
        </p:nvSpPr>
        <p:spPr bwMode="auto">
          <a:xfrm>
            <a:off x="6839806" y="3554029"/>
            <a:ext cx="1576552" cy="727922"/>
          </a:xfrm>
          <a:prstGeom prst="wedgeRectCallout">
            <a:avLst>
              <a:gd name="adj1" fmla="val -94096"/>
              <a:gd name="adj2" fmla="val 105130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Обобщаем эти сущности в одну бизнес-сущность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4F451-EC50-3D85-0139-A9B57237FFDD}"/>
              </a:ext>
            </a:extLst>
          </p:cNvPr>
          <p:cNvSpPr txBox="1"/>
          <p:nvPr/>
        </p:nvSpPr>
        <p:spPr>
          <a:xfrm>
            <a:off x="7698406" y="527867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05384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C3E16-58E9-A81F-2CDB-9E00CFA7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48427A7-6CE2-FB3A-152B-B92E3CC1C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EB10267-92DB-A59D-C56C-0E5C1048B663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Обобщение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 подобных бизнес-сущностей (2)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47BC59A-E258-1E1D-5523-A65F48BFE394}"/>
              </a:ext>
            </a:extLst>
          </p:cNvPr>
          <p:cNvSpPr/>
          <p:nvPr/>
        </p:nvSpPr>
        <p:spPr bwMode="auto">
          <a:xfrm>
            <a:off x="539750" y="1236260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2861B2-2BF2-87A1-555F-C5C2448C1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971" y="1236260"/>
            <a:ext cx="6318367" cy="5024440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21669B60-924B-3CD6-4BFA-D74E841313FB}"/>
              </a:ext>
            </a:extLst>
          </p:cNvPr>
          <p:cNvSpPr/>
          <p:nvPr/>
        </p:nvSpPr>
        <p:spPr bwMode="auto">
          <a:xfrm>
            <a:off x="4567155" y="3536616"/>
            <a:ext cx="1576552" cy="1828800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08E91-7E8E-0FCC-96C1-3F049A49FEC7}"/>
              </a:ext>
            </a:extLst>
          </p:cNvPr>
          <p:cNvSpPr txBox="1"/>
          <p:nvPr/>
        </p:nvSpPr>
        <p:spPr>
          <a:xfrm>
            <a:off x="4171491" y="5046377"/>
            <a:ext cx="9058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0" dirty="0"/>
              <a:t>Создатель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863D7-A51B-FCA8-BB62-E3C1A60DBCF0}"/>
              </a:ext>
            </a:extLst>
          </p:cNvPr>
          <p:cNvSpPr txBox="1"/>
          <p:nvPr/>
        </p:nvSpPr>
        <p:spPr>
          <a:xfrm>
            <a:off x="4171491" y="4162057"/>
            <a:ext cx="7458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0" dirty="0"/>
              <a:t>Читатель</a:t>
            </a:r>
          </a:p>
        </p:txBody>
      </p:sp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3AC56376-C073-9307-895B-2131F3A1DC97}"/>
              </a:ext>
            </a:extLst>
          </p:cNvPr>
          <p:cNvSpPr/>
          <p:nvPr/>
        </p:nvSpPr>
        <p:spPr bwMode="auto">
          <a:xfrm>
            <a:off x="6539371" y="3429001"/>
            <a:ext cx="2427208" cy="979278"/>
          </a:xfrm>
          <a:prstGeom prst="wedgeRectCallout">
            <a:avLst>
              <a:gd name="adj1" fmla="val -74994"/>
              <a:gd name="adj2" fmla="val 41002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В бизнес-сущности УЧАСТНИК теперь находятся экземпляры сущностей СОЗДАТЕЛИ и ЧИТАТЕЛИ</a:t>
            </a:r>
          </a:p>
        </p:txBody>
      </p:sp>
      <p:sp>
        <p:nvSpPr>
          <p:cNvPr id="5" name="Облачко с текстом: прямоугольное 4">
            <a:extLst>
              <a:ext uri="{FF2B5EF4-FFF2-40B4-BE49-F238E27FC236}">
                <a16:creationId xmlns:a16="http://schemas.microsoft.com/office/drawing/2014/main" id="{CF385B29-3956-476D-5E86-6281EF4A6344}"/>
              </a:ext>
            </a:extLst>
          </p:cNvPr>
          <p:cNvSpPr/>
          <p:nvPr/>
        </p:nvSpPr>
        <p:spPr bwMode="auto">
          <a:xfrm>
            <a:off x="6539371" y="5046377"/>
            <a:ext cx="2427208" cy="731936"/>
          </a:xfrm>
          <a:prstGeom prst="wedgeRectCallout">
            <a:avLst>
              <a:gd name="adj1" fmla="val -142819"/>
              <a:gd name="adj2" fmla="val 62500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Надо переименовать блок</a:t>
            </a:r>
            <a:b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в УЧАСТИЕ_РОЛЬ</a:t>
            </a:r>
            <a:r>
              <a:rPr kumimoji="0" 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и добавить позицию «читатель»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5492F-2C16-E7ED-303E-9C87C6602200}"/>
              </a:ext>
            </a:extLst>
          </p:cNvPr>
          <p:cNvSpPr txBox="1"/>
          <p:nvPr/>
        </p:nvSpPr>
        <p:spPr>
          <a:xfrm>
            <a:off x="7655344" y="500309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88227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4DE48-CB33-AAD6-F925-844B02CB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750839-B098-50A7-46B5-1500257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11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4122A0-5E40-EB0B-5BB3-FBE8C3B49563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Стандартизация: объединение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линейных</a:t>
            </a: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справочников (1)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A94100-0DA4-398A-AD70-4771BEF12ED2}"/>
              </a:ext>
            </a:extLst>
          </p:cNvPr>
          <p:cNvSpPr/>
          <p:nvPr/>
        </p:nvSpPr>
        <p:spPr bwMode="auto">
          <a:xfrm>
            <a:off x="539750" y="1225295"/>
            <a:ext cx="8594560" cy="508342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BDD72B-0A2F-7B18-A984-674FDFC74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11" y="1225296"/>
            <a:ext cx="6862977" cy="5048504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CE275774-45B4-E6F4-2A7F-F54052414FAA}"/>
              </a:ext>
            </a:extLst>
          </p:cNvPr>
          <p:cNvSpPr/>
          <p:nvPr/>
        </p:nvSpPr>
        <p:spPr bwMode="auto">
          <a:xfrm>
            <a:off x="2875544" y="1225296"/>
            <a:ext cx="2045367" cy="2203704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Облачко с текстом: прямоугольное 7">
            <a:extLst>
              <a:ext uri="{FF2B5EF4-FFF2-40B4-BE49-F238E27FC236}">
                <a16:creationId xmlns:a16="http://schemas.microsoft.com/office/drawing/2014/main" id="{0D5CD2C0-38CE-C3E7-245D-536CA8C42385}"/>
              </a:ext>
            </a:extLst>
          </p:cNvPr>
          <p:cNvSpPr/>
          <p:nvPr/>
        </p:nvSpPr>
        <p:spPr bwMode="auto">
          <a:xfrm>
            <a:off x="5606579" y="1484597"/>
            <a:ext cx="2238010" cy="835522"/>
          </a:xfrm>
          <a:prstGeom prst="wedgeRectCallout">
            <a:avLst>
              <a:gd name="adj1" fmla="val -83576"/>
              <a:gd name="adj2" fmla="val 111742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Объединим эти линейные справочники в виде одного классификатора КАТЕГОРИЯ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0EFEC-F5D6-9533-05B7-A1915E5AA055}"/>
              </a:ext>
            </a:extLst>
          </p:cNvPr>
          <p:cNvSpPr txBox="1"/>
          <p:nvPr/>
        </p:nvSpPr>
        <p:spPr>
          <a:xfrm>
            <a:off x="7681953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7262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4454-3CCE-E0FF-42BF-53750779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0E9F7CE-8608-77FF-C3FA-E1D0DB44C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12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B2FC16-9A1B-546D-923B-610B965FF358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Стандартизация: объединение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линейных</a:t>
            </a: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справочников(2)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14E6CC-E5F3-1B32-79CF-E3D0336845AE}"/>
              </a:ext>
            </a:extLst>
          </p:cNvPr>
          <p:cNvSpPr/>
          <p:nvPr/>
        </p:nvSpPr>
        <p:spPr bwMode="auto">
          <a:xfrm>
            <a:off x="539750" y="1225295"/>
            <a:ext cx="8594560" cy="508342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4B08CB-7A33-64DB-82D3-E0228CBE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25" y="1228725"/>
            <a:ext cx="7021609" cy="5045075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4EB7675D-FC16-64A3-CF65-00D7DC155425}"/>
              </a:ext>
            </a:extLst>
          </p:cNvPr>
          <p:cNvSpPr/>
          <p:nvPr/>
        </p:nvSpPr>
        <p:spPr bwMode="auto">
          <a:xfrm>
            <a:off x="2875544" y="1888958"/>
            <a:ext cx="2045367" cy="890337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0EAF49-88D9-A696-1940-A2FDADCF106B}"/>
              </a:ext>
            </a:extLst>
          </p:cNvPr>
          <p:cNvSpPr txBox="1"/>
          <p:nvPr/>
        </p:nvSpPr>
        <p:spPr>
          <a:xfrm>
            <a:off x="2719133" y="1641022"/>
            <a:ext cx="12633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0" dirty="0"/>
              <a:t>тема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4109F-5F6A-4C29-16D8-8F205A945307}"/>
              </a:ext>
            </a:extLst>
          </p:cNvPr>
          <p:cNvSpPr txBox="1"/>
          <p:nvPr/>
        </p:nvSpPr>
        <p:spPr>
          <a:xfrm>
            <a:off x="2466466" y="2460256"/>
            <a:ext cx="12633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0" dirty="0"/>
              <a:t>вид издания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A0C887-7A1C-7DDF-BB6E-F4FCAB8D34FA}"/>
              </a:ext>
            </a:extLst>
          </p:cNvPr>
          <p:cNvSpPr txBox="1"/>
          <p:nvPr/>
        </p:nvSpPr>
        <p:spPr>
          <a:xfrm>
            <a:off x="3994480" y="2706477"/>
            <a:ext cx="12633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0" dirty="0"/>
              <a:t>роль создателя</a:t>
            </a:r>
          </a:p>
        </p:txBody>
      </p:sp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83C27B12-3E5F-F9A8-F5C5-DD5096F23283}"/>
              </a:ext>
            </a:extLst>
          </p:cNvPr>
          <p:cNvSpPr/>
          <p:nvPr/>
        </p:nvSpPr>
        <p:spPr bwMode="auto">
          <a:xfrm>
            <a:off x="5707386" y="1523282"/>
            <a:ext cx="2238010" cy="934168"/>
          </a:xfrm>
          <a:prstGeom prst="wedgeRectCallout">
            <a:avLst>
              <a:gd name="adj1" fmla="val -85189"/>
              <a:gd name="adj2" fmla="val 45971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Э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тот классификатор содержит Темы, Виды изданий и Роли создателей, а также Признаки читателей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07BDE-4734-FCF3-6F23-B46C21D64DE7}"/>
              </a:ext>
            </a:extLst>
          </p:cNvPr>
          <p:cNvSpPr txBox="1"/>
          <p:nvPr/>
        </p:nvSpPr>
        <p:spPr>
          <a:xfrm>
            <a:off x="7696695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4748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1A29-0900-D7DF-61DD-8B5EC7B6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83E7B76-18DF-305B-3CFC-4DEF0F4CE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13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EF57BA-78E8-1ED0-B629-C7716E8E6244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lnSpc>
                <a:spcPct val="90000"/>
              </a:lnSpc>
              <a:spcAft>
                <a:spcPts val="600"/>
              </a:spcAf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Стандартизация: рекурсии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 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для иерархии справочников (1)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9B62DF-632F-101C-C028-7B646DB6079C}"/>
              </a:ext>
            </a:extLst>
          </p:cNvPr>
          <p:cNvSpPr/>
          <p:nvPr/>
        </p:nvSpPr>
        <p:spPr bwMode="auto">
          <a:xfrm>
            <a:off x="539750" y="1225295"/>
            <a:ext cx="8594560" cy="508342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9CB678-485E-322F-0256-A2DCFDA7B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24" y="1225296"/>
            <a:ext cx="7021609" cy="5045075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42103353-DDC8-8451-BA0E-0F9F7AA509E2}"/>
              </a:ext>
            </a:extLst>
          </p:cNvPr>
          <p:cNvSpPr/>
          <p:nvPr/>
        </p:nvSpPr>
        <p:spPr bwMode="auto">
          <a:xfrm>
            <a:off x="4837029" y="4668253"/>
            <a:ext cx="3621171" cy="1118935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CAA73B9D-B110-EF28-2210-5CBA4A1B4E95}"/>
              </a:ext>
            </a:extLst>
          </p:cNvPr>
          <p:cNvSpPr/>
          <p:nvPr/>
        </p:nvSpPr>
        <p:spPr bwMode="auto">
          <a:xfrm>
            <a:off x="6790229" y="3383872"/>
            <a:ext cx="2238010" cy="727922"/>
          </a:xfrm>
          <a:prstGeom prst="wedgeRectCallout">
            <a:avLst>
              <a:gd name="adj1" fmla="val -30891"/>
              <a:gd name="adj2" fmla="val 128270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Применим стандартное решение –  рекурсию </a:t>
            </a:r>
            <a:br>
              <a:rPr lang="ru-RU" sz="1200" b="0" dirty="0">
                <a:latin typeface="Arial" charset="0"/>
              </a:rPr>
            </a:br>
            <a:r>
              <a:rPr lang="ru-RU" sz="1200" b="0" dirty="0">
                <a:latin typeface="Arial" charset="0"/>
              </a:rPr>
              <a:t>для иерархии справочников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2BD1E-1E7B-A6EB-733D-C57D314DC495}"/>
              </a:ext>
            </a:extLst>
          </p:cNvPr>
          <p:cNvSpPr txBox="1"/>
          <p:nvPr/>
        </p:nvSpPr>
        <p:spPr>
          <a:xfrm>
            <a:off x="7681956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7868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1D90E-69BD-597A-6AE6-218596147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4E6280-DD30-0453-1BD6-1337E8BC4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14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EBC6E2-8C1B-8891-E4EA-7810E9F5F214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lnSpc>
                <a:spcPct val="90000"/>
              </a:lnSpc>
              <a:spcAft>
                <a:spcPts val="600"/>
              </a:spcAf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Стандартизация: рекурсия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 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для иерархии справочников (2)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8009AE5-5767-74FF-576F-E2312CCF293B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AE612C-7FC2-DD7C-AC07-9F0421FA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38" y="1239492"/>
            <a:ext cx="5428499" cy="4998212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8AFDEC23-90BE-B181-CB3C-19D5C25C4209}"/>
              </a:ext>
            </a:extLst>
          </p:cNvPr>
          <p:cNvSpPr/>
          <p:nvPr/>
        </p:nvSpPr>
        <p:spPr bwMode="auto">
          <a:xfrm>
            <a:off x="4837029" y="4668253"/>
            <a:ext cx="2163681" cy="1118935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Облачко с текстом: прямоугольное 7">
            <a:extLst>
              <a:ext uri="{FF2B5EF4-FFF2-40B4-BE49-F238E27FC236}">
                <a16:creationId xmlns:a16="http://schemas.microsoft.com/office/drawing/2014/main" id="{0619F8B3-AC2C-AB01-9F8E-24BD547FB9AB}"/>
              </a:ext>
            </a:extLst>
          </p:cNvPr>
          <p:cNvSpPr/>
          <p:nvPr/>
        </p:nvSpPr>
        <p:spPr bwMode="auto">
          <a:xfrm>
            <a:off x="6777037" y="3738598"/>
            <a:ext cx="2238010" cy="616834"/>
          </a:xfrm>
          <a:prstGeom prst="wedgeRectCallout">
            <a:avLst>
              <a:gd name="adj1" fmla="val -57233"/>
              <a:gd name="adj2" fmla="val 114883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Э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тот классификатор теперь содержит Города и Страны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89C31-8AAE-D08C-B457-D1E272A88DC9}"/>
              </a:ext>
            </a:extLst>
          </p:cNvPr>
          <p:cNvSpPr txBox="1"/>
          <p:nvPr/>
        </p:nvSpPr>
        <p:spPr>
          <a:xfrm>
            <a:off x="7726194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82115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3A02-5881-6C05-B67A-5A216AB3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8AAAA81-24B4-1772-5AB7-A93652875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15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A1361B-CC15-6F7B-DE10-C638F86D65C2}"/>
              </a:ext>
            </a:extLst>
          </p:cNvPr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spcAft>
                <a:spcPts val="600"/>
              </a:spcAf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Кросс-сущности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для связи (1)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B8B0437-9405-5657-B7DA-B58BDFC2A098}"/>
              </a:ext>
            </a:extLst>
          </p:cNvPr>
          <p:cNvSpPr/>
          <p:nvPr/>
        </p:nvSpPr>
        <p:spPr bwMode="auto">
          <a:xfrm>
            <a:off x="539750" y="1225295"/>
            <a:ext cx="8594560" cy="508342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A46414-4F05-0C4B-5995-64169C9F6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38" y="1251282"/>
            <a:ext cx="5428499" cy="4950326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6E03D472-ED99-645D-F345-BAB644A0C59A}"/>
              </a:ext>
            </a:extLst>
          </p:cNvPr>
          <p:cNvSpPr/>
          <p:nvPr/>
        </p:nvSpPr>
        <p:spPr bwMode="auto">
          <a:xfrm>
            <a:off x="4283242" y="4860758"/>
            <a:ext cx="1082842" cy="613610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Облачко с текстом: прямоугольное 4">
            <a:extLst>
              <a:ext uri="{FF2B5EF4-FFF2-40B4-BE49-F238E27FC236}">
                <a16:creationId xmlns:a16="http://schemas.microsoft.com/office/drawing/2014/main" id="{844153EC-BEE8-F4E6-F9A5-78280455C4A1}"/>
              </a:ext>
            </a:extLst>
          </p:cNvPr>
          <p:cNvSpPr/>
          <p:nvPr/>
        </p:nvSpPr>
        <p:spPr bwMode="auto">
          <a:xfrm>
            <a:off x="6045383" y="5584774"/>
            <a:ext cx="2015775" cy="616834"/>
          </a:xfrm>
          <a:prstGeom prst="wedgeRectCallout">
            <a:avLst>
              <a:gd name="adj1" fmla="val -95403"/>
              <a:gd name="adj2" fmla="val -70418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Заменим простую связь </a:t>
            </a:r>
            <a:br>
              <a:rPr lang="ru-RU" sz="1200" b="0" dirty="0">
                <a:latin typeface="Arial" charset="0"/>
              </a:rPr>
            </a:br>
            <a:r>
              <a:rPr lang="ru-RU" sz="1200" b="0" dirty="0">
                <a:latin typeface="Arial" charset="0"/>
              </a:rPr>
              <a:t>на кросс-сущность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9B401-A837-0944-B428-7BDA4B70C434}"/>
              </a:ext>
            </a:extLst>
          </p:cNvPr>
          <p:cNvSpPr txBox="1"/>
          <p:nvPr/>
        </p:nvSpPr>
        <p:spPr>
          <a:xfrm>
            <a:off x="7696701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04479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E8E4-1A3F-B7FF-6901-9DB23F2C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FBE394-76F2-A82A-4B83-69CF0DC358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16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3031798-C0B3-F231-B3F6-1BCC151C6EA6}"/>
              </a:ext>
            </a:extLst>
          </p:cNvPr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spcAft>
                <a:spcPts val="600"/>
              </a:spcAf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Кросс-сущности 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для связи (2)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B19C48-99D3-D868-37A2-3EF6DBBC6B70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1814AE-2D5A-D9B6-0D1B-6BA0AB445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29" y="1225295"/>
            <a:ext cx="7276735" cy="5018595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4BD0A068-4302-F6F5-F1B2-E37DBAE5CE87}"/>
              </a:ext>
            </a:extLst>
          </p:cNvPr>
          <p:cNvSpPr/>
          <p:nvPr/>
        </p:nvSpPr>
        <p:spPr bwMode="auto">
          <a:xfrm>
            <a:off x="4837029" y="4668253"/>
            <a:ext cx="2163681" cy="1118935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Облачко с текстом: прямоугольное 7">
            <a:extLst>
              <a:ext uri="{FF2B5EF4-FFF2-40B4-BE49-F238E27FC236}">
                <a16:creationId xmlns:a16="http://schemas.microsoft.com/office/drawing/2014/main" id="{E4773A07-C854-22E2-E2A5-5075AF985D63}"/>
              </a:ext>
            </a:extLst>
          </p:cNvPr>
          <p:cNvSpPr/>
          <p:nvPr/>
        </p:nvSpPr>
        <p:spPr bwMode="auto">
          <a:xfrm>
            <a:off x="6792766" y="4021509"/>
            <a:ext cx="2002318" cy="616834"/>
          </a:xfrm>
          <a:prstGeom prst="wedgeRectCallout">
            <a:avLst>
              <a:gd name="adj1" fmla="val -86264"/>
              <a:gd name="adj2" fmla="val 52466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Кросс-сущность создаёт предпосылку для дальнейших обобщений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E99B80-C135-8D3C-622E-E12ADC84D2AF}"/>
              </a:ext>
            </a:extLst>
          </p:cNvPr>
          <p:cNvSpPr txBox="1"/>
          <p:nvPr/>
        </p:nvSpPr>
        <p:spPr>
          <a:xfrm>
            <a:off x="7696704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2268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CE59-499C-DCF1-2B96-C4E52C95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EF56E77-AFDC-04BF-5675-9B11D42E6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17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3478DE-F0AB-74EB-91EE-4D86C64ED0AE}"/>
              </a:ext>
            </a:extLst>
          </p:cNvPr>
          <p:cNvSpPr/>
          <p:nvPr/>
        </p:nvSpPr>
        <p:spPr>
          <a:xfrm>
            <a:off x="0" y="-75617"/>
            <a:ext cx="913431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spcAft>
                <a:spcPts val="600"/>
              </a:spcAf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Обобщение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 подобных бизнес-сущностей (3)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967B84-422B-2230-5B57-833E0E644366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289333-457C-0877-431B-107DAF56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189" y="1255205"/>
            <a:ext cx="7276735" cy="5018595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89116C5-6319-A9A9-E387-EE0F3C8BA410}"/>
              </a:ext>
            </a:extLst>
          </p:cNvPr>
          <p:cNvCxnSpPr/>
          <p:nvPr/>
        </p:nvCxnSpPr>
        <p:spPr bwMode="auto">
          <a:xfrm flipH="1">
            <a:off x="3356811" y="4848726"/>
            <a:ext cx="1215189" cy="75799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14023FF-0539-8743-C876-34C6BE71206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351966" y="4956031"/>
            <a:ext cx="1215189" cy="60039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6" name="Облачко с текстом: прямоугольное 15">
            <a:extLst>
              <a:ext uri="{FF2B5EF4-FFF2-40B4-BE49-F238E27FC236}">
                <a16:creationId xmlns:a16="http://schemas.microsoft.com/office/drawing/2014/main" id="{4E98314F-7BC9-73C1-4E96-1EFD8F196344}"/>
              </a:ext>
            </a:extLst>
          </p:cNvPr>
          <p:cNvSpPr/>
          <p:nvPr/>
        </p:nvSpPr>
        <p:spPr bwMode="auto">
          <a:xfrm>
            <a:off x="5318776" y="5556425"/>
            <a:ext cx="2364914" cy="616834"/>
          </a:xfrm>
          <a:prstGeom prst="wedgeRectCallout">
            <a:avLst>
              <a:gd name="adj1" fmla="val -95403"/>
              <a:gd name="adj2" fmla="val -70418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Обобщаем ИЗДАТЕЛЬСТВО до УЧАСТНИКА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D0FC3-8BAB-B3E8-7F31-D9D00D951C7B}"/>
              </a:ext>
            </a:extLst>
          </p:cNvPr>
          <p:cNvSpPr txBox="1"/>
          <p:nvPr/>
        </p:nvSpPr>
        <p:spPr>
          <a:xfrm>
            <a:off x="7696691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088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786B8-6F10-B5AF-9B72-20828D39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C26930-D450-D703-281B-E1A102B56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18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F82E5CF-F6CD-B063-E8D2-43EB170F1A06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Обобщение</a:t>
            </a: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 подобных бизнес-сущностей (4)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AA2326-26DC-DAAF-61CA-508892383218}"/>
              </a:ext>
            </a:extLst>
          </p:cNvPr>
          <p:cNvSpPr/>
          <p:nvPr/>
        </p:nvSpPr>
        <p:spPr bwMode="auto">
          <a:xfrm>
            <a:off x="539750" y="1227460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A08724-1EE9-1B4B-840F-823C1BB03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726" y="1226716"/>
            <a:ext cx="6915578" cy="5047083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2DD3B161-C968-53B4-3A3D-0E954F067CBC}"/>
              </a:ext>
            </a:extLst>
          </p:cNvPr>
          <p:cNvSpPr/>
          <p:nvPr/>
        </p:nvSpPr>
        <p:spPr bwMode="auto">
          <a:xfrm>
            <a:off x="4708190" y="2624388"/>
            <a:ext cx="2093495" cy="1855871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CB68FBA5-52DA-048D-DFDE-D4D363D26302}"/>
              </a:ext>
            </a:extLst>
          </p:cNvPr>
          <p:cNvSpPr/>
          <p:nvPr/>
        </p:nvSpPr>
        <p:spPr bwMode="auto">
          <a:xfrm>
            <a:off x="6051735" y="4760194"/>
            <a:ext cx="2015775" cy="774331"/>
          </a:xfrm>
          <a:prstGeom prst="wedgeRectCallout">
            <a:avLst>
              <a:gd name="adj1" fmla="val -76303"/>
              <a:gd name="adj2" fmla="val -95775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В сущности Участник теперь находятся ещё и Издательства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Облачко с текстом: прямоугольное 14">
            <a:extLst>
              <a:ext uri="{FF2B5EF4-FFF2-40B4-BE49-F238E27FC236}">
                <a16:creationId xmlns:a16="http://schemas.microsoft.com/office/drawing/2014/main" id="{A42636BF-A4B5-1452-68A3-0705543722C2}"/>
              </a:ext>
            </a:extLst>
          </p:cNvPr>
          <p:cNvSpPr/>
          <p:nvPr/>
        </p:nvSpPr>
        <p:spPr bwMode="auto">
          <a:xfrm>
            <a:off x="5543550" y="1732547"/>
            <a:ext cx="2015775" cy="539732"/>
          </a:xfrm>
          <a:prstGeom prst="wedgeRectCallout">
            <a:avLst>
              <a:gd name="adj1" fmla="val -108534"/>
              <a:gd name="adj2" fmla="val 5494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Сюда нужно добавить Признак издательства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31D49-BACF-1621-C415-329E77B6B2FE}"/>
              </a:ext>
            </a:extLst>
          </p:cNvPr>
          <p:cNvSpPr txBox="1"/>
          <p:nvPr/>
        </p:nvSpPr>
        <p:spPr>
          <a:xfrm>
            <a:off x="7711450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93864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DADA-7A37-9458-E04F-7FF98EFB5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59EFB3-8F95-C8B6-A4DF-27DEE9231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19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C39ABC8-C96D-344B-EC75-481DC3DD2493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lnSpc>
                <a:spcPct val="90000"/>
              </a:lnSpc>
              <a:spcAft>
                <a:spcPts val="600"/>
              </a:spcAf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Обеспечение независимости 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бизнес-сущности КНИГА (1)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62731B-950A-A7B1-4F06-D88606301768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40AE21-321F-EC23-001B-EDDEB189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597" y="1243012"/>
            <a:ext cx="7058447" cy="5030788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D7FD759-04FC-E157-70B7-155066CFAADE}"/>
              </a:ext>
            </a:extLst>
          </p:cNvPr>
          <p:cNvCxnSpPr/>
          <p:nvPr/>
        </p:nvCxnSpPr>
        <p:spPr bwMode="auto">
          <a:xfrm flipH="1">
            <a:off x="2815389" y="1804737"/>
            <a:ext cx="264695" cy="300789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41A38E8-72A4-0E90-9812-B4C7A9A2014B}"/>
              </a:ext>
            </a:extLst>
          </p:cNvPr>
          <p:cNvCxnSpPr/>
          <p:nvPr/>
        </p:nvCxnSpPr>
        <p:spPr bwMode="auto">
          <a:xfrm>
            <a:off x="2887579" y="1744579"/>
            <a:ext cx="132347" cy="4572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9788A4B-8776-E5C3-A0FC-306637E94AFF}"/>
              </a:ext>
            </a:extLst>
          </p:cNvPr>
          <p:cNvCxnSpPr/>
          <p:nvPr/>
        </p:nvCxnSpPr>
        <p:spPr bwMode="auto">
          <a:xfrm flipH="1">
            <a:off x="2815389" y="2225842"/>
            <a:ext cx="264695" cy="300789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41962581-D46F-2A2D-9C2D-65AE9225B971}"/>
              </a:ext>
            </a:extLst>
          </p:cNvPr>
          <p:cNvCxnSpPr/>
          <p:nvPr/>
        </p:nvCxnSpPr>
        <p:spPr bwMode="auto">
          <a:xfrm>
            <a:off x="2887579" y="2165684"/>
            <a:ext cx="132347" cy="4572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C4C24E6A-28AC-6860-BC49-FA70144877C3}"/>
              </a:ext>
            </a:extLst>
          </p:cNvPr>
          <p:cNvSpPr/>
          <p:nvPr/>
        </p:nvSpPr>
        <p:spPr bwMode="auto">
          <a:xfrm>
            <a:off x="5148613" y="1744579"/>
            <a:ext cx="2467376" cy="759308"/>
          </a:xfrm>
          <a:prstGeom prst="wedgeRectCallout">
            <a:avLst>
              <a:gd name="adj1" fmla="val -64373"/>
              <a:gd name="adj2" fmla="val 148732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Делаем связь необязательной и удаляем ссылки из Книги </a:t>
            </a:r>
            <a:br>
              <a:rPr lang="ru-RU" sz="1200" b="0" dirty="0">
                <a:latin typeface="Arial" charset="0"/>
              </a:rPr>
            </a:br>
            <a:r>
              <a:rPr lang="ru-RU" sz="1200" b="0" dirty="0">
                <a:latin typeface="Arial" charset="0"/>
              </a:rPr>
              <a:t>на Категорию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FE5FD-6E49-9B6F-7685-C7F5EAAAE06A}"/>
              </a:ext>
            </a:extLst>
          </p:cNvPr>
          <p:cNvSpPr txBox="1"/>
          <p:nvPr/>
        </p:nvSpPr>
        <p:spPr>
          <a:xfrm>
            <a:off x="7674981" y="507877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78245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8F35-6231-008A-3E1D-F2E11744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7C05A93-16FC-643F-8B40-AC41C8C20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20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79B05FB-9416-F915-A482-CB3AED20E971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lnSpc>
                <a:spcPct val="90000"/>
              </a:lnSpc>
              <a:spcAft>
                <a:spcPts val="600"/>
              </a:spcAft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Обеспечение независимости 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бизнес-сущности КНИГА (2)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C3DF1D5-E432-2E63-B10C-B363D6AFDF61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FECBA14-1BF2-E437-52FB-BEE5AF8A7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97" y="1225296"/>
            <a:ext cx="6955234" cy="5048503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926CFA13-1EF5-5936-1696-7048E57E9C2F}"/>
              </a:ext>
            </a:extLst>
          </p:cNvPr>
          <p:cNvSpPr/>
          <p:nvPr/>
        </p:nvSpPr>
        <p:spPr bwMode="auto">
          <a:xfrm>
            <a:off x="2590632" y="3429000"/>
            <a:ext cx="2093495" cy="1855871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4FB69F74-AE51-8E3A-634A-32AE422B0ABF}"/>
              </a:ext>
            </a:extLst>
          </p:cNvPr>
          <p:cNvSpPr/>
          <p:nvPr/>
        </p:nvSpPr>
        <p:spPr bwMode="auto">
          <a:xfrm>
            <a:off x="5028757" y="5134838"/>
            <a:ext cx="2467376" cy="759308"/>
          </a:xfrm>
          <a:prstGeom prst="wedgeRectCallout">
            <a:avLst>
              <a:gd name="adj1" fmla="val -88754"/>
              <a:gd name="adj2" fmla="val -42998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b="0" dirty="0">
                <a:latin typeface="Arial" charset="0"/>
              </a:rPr>
              <a:t>Меняем связи у Выдачи и добавляем кросс-сущность Размещение</a:t>
            </a: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000AC-6274-F0CA-B2A8-C50CB6D5A3B0}"/>
              </a:ext>
            </a:extLst>
          </p:cNvPr>
          <p:cNvSpPr txBox="1"/>
          <p:nvPr/>
        </p:nvSpPr>
        <p:spPr>
          <a:xfrm>
            <a:off x="7696701" y="528673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641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36A54-5151-496F-8DAD-010C6FCF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0809541-512D-0B43-34A8-0E8CFD167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21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0E73A2-2024-A16F-37DD-8CED20D7409C}"/>
              </a:ext>
            </a:extLst>
          </p:cNvPr>
          <p:cNvSpPr/>
          <p:nvPr/>
        </p:nvSpPr>
        <p:spPr>
          <a:xfrm>
            <a:off x="0" y="145983"/>
            <a:ext cx="9134310" cy="9787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61950" lvl="1">
              <a:lnSpc>
                <a:spcPct val="90000"/>
              </a:lnSpc>
              <a:spcAft>
                <a:spcPts val="600"/>
              </a:spcAft>
            </a:pPr>
            <a:r>
              <a:rPr lang="ru-RU" sz="3200" dirty="0">
                <a:solidFill>
                  <a:schemeClr val="tx2">
                    <a:lumMod val="75000"/>
                  </a:schemeClr>
                </a:solidFill>
                <a:highlight>
                  <a:srgbClr val="FF9900"/>
                </a:highlight>
              </a:rPr>
              <a:t>Результаты обобщения и стандартизации </a:t>
            </a:r>
            <a:r>
              <a:rPr lang="ru-RU" sz="3200" dirty="0">
                <a:solidFill>
                  <a:schemeClr val="tx2">
                    <a:lumMod val="50000"/>
                  </a:schemeClr>
                </a:solidFill>
                <a:highlight>
                  <a:srgbClr val="FF9900"/>
                </a:highlight>
              </a:rPr>
              <a:t>КМД «Домашняя библиотека»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979DD2-93FB-BB97-8C31-8AF1B1C3E6DF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187325" lvl="1">
              <a:spcAft>
                <a:spcPts val="600"/>
              </a:spcAft>
            </a:pPr>
            <a:endParaRPr lang="ru-RU" b="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0CC2AD-EE83-76D3-4705-4105FDE78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64" y="1235993"/>
            <a:ext cx="6172200" cy="2809875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F1D31AE-D9E4-4930-8C91-4B6800710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88831"/>
              </p:ext>
            </p:extLst>
          </p:nvPr>
        </p:nvGraphicFramePr>
        <p:xfrm>
          <a:off x="4213180" y="3967211"/>
          <a:ext cx="4395873" cy="2645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5589">
                  <a:extLst>
                    <a:ext uri="{9D8B030D-6E8A-4147-A177-3AD203B41FA5}">
                      <a16:colId xmlns:a16="http://schemas.microsoft.com/office/drawing/2014/main" val="22448056"/>
                    </a:ext>
                  </a:extLst>
                </a:gridCol>
                <a:gridCol w="1162434">
                  <a:extLst>
                    <a:ext uri="{9D8B030D-6E8A-4147-A177-3AD203B41FA5}">
                      <a16:colId xmlns:a16="http://schemas.microsoft.com/office/drawing/2014/main" val="766006117"/>
                    </a:ext>
                  </a:extLst>
                </a:gridCol>
                <a:gridCol w="1037850">
                  <a:extLst>
                    <a:ext uri="{9D8B030D-6E8A-4147-A177-3AD203B41FA5}">
                      <a16:colId xmlns:a16="http://schemas.microsoft.com/office/drawing/2014/main" val="3056849409"/>
                    </a:ext>
                  </a:extLst>
                </a:gridCol>
              </a:tblGrid>
              <a:tr h="35195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Характеристика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Начальный вариант 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Конечный вариант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27872"/>
                  </a:ext>
                </a:extLst>
              </a:tr>
              <a:tr h="308674">
                <a:tc>
                  <a:txBody>
                    <a:bodyPr/>
                    <a:lstStyle/>
                    <a:p>
                      <a:r>
                        <a:rPr lang="ru-RU" sz="1200" dirty="0"/>
                        <a:t>Сущностей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34543"/>
                  </a:ext>
                </a:extLst>
              </a:tr>
              <a:tr h="308674">
                <a:tc>
                  <a:txBody>
                    <a:bodyPr/>
                    <a:lstStyle/>
                    <a:p>
                      <a:pPr marL="177800" indent="0"/>
                      <a:r>
                        <a:rPr lang="ru-RU" sz="1200" dirty="0"/>
                        <a:t>независимых сущностей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582123"/>
                  </a:ext>
                </a:extLst>
              </a:tr>
              <a:tr h="308674">
                <a:tc>
                  <a:txBody>
                    <a:bodyPr/>
                    <a:lstStyle/>
                    <a:p>
                      <a:pPr marL="177800" indent="0"/>
                      <a:r>
                        <a:rPr lang="ru-RU" sz="1200" dirty="0"/>
                        <a:t>зависимых сущностей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17152"/>
                  </a:ext>
                </a:extLst>
              </a:tr>
              <a:tr h="308674">
                <a:tc>
                  <a:txBody>
                    <a:bodyPr/>
                    <a:lstStyle/>
                    <a:p>
                      <a:pPr marL="177800" lvl="1" indent="0"/>
                      <a:r>
                        <a:rPr lang="ru-RU" sz="1200" dirty="0"/>
                        <a:t>классификаторов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489500"/>
                  </a:ext>
                </a:extLst>
              </a:tr>
              <a:tr h="308674">
                <a:tc>
                  <a:txBody>
                    <a:bodyPr/>
                    <a:lstStyle/>
                    <a:p>
                      <a:pPr marL="177800" lvl="1" indent="0"/>
                      <a:r>
                        <a:rPr lang="ru-RU" sz="1200" dirty="0"/>
                        <a:t>реестров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674216"/>
                  </a:ext>
                </a:extLst>
              </a:tr>
              <a:tr h="308674">
                <a:tc>
                  <a:txBody>
                    <a:bodyPr/>
                    <a:lstStyle/>
                    <a:p>
                      <a:pPr marL="177800" lvl="1" indent="0"/>
                      <a:r>
                        <a:rPr lang="ru-RU" sz="1200" dirty="0"/>
                        <a:t>кросс-сущностей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53124"/>
                  </a:ext>
                </a:extLst>
              </a:tr>
              <a:tr h="336054">
                <a:tc>
                  <a:txBody>
                    <a:bodyPr/>
                    <a:lstStyle/>
                    <a:p>
                      <a:r>
                        <a:rPr lang="ru-RU" sz="1200" dirty="0"/>
                        <a:t>Связей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2017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D3FCC4D-3A98-F613-F0CB-C4287DF23B4C}"/>
              </a:ext>
            </a:extLst>
          </p:cNvPr>
          <p:cNvSpPr txBox="1"/>
          <p:nvPr/>
        </p:nvSpPr>
        <p:spPr>
          <a:xfrm>
            <a:off x="723331" y="5335159"/>
            <a:ext cx="34898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Меньше сущностей в итоге</a:t>
            </a:r>
          </a:p>
          <a:p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Больше кросс-сущностей</a:t>
            </a:r>
          </a:p>
          <a:p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Число связей почти не изменилось</a:t>
            </a:r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2BB3DDE3-90FD-71D2-67F5-D347E3927F99}"/>
              </a:ext>
            </a:extLst>
          </p:cNvPr>
          <p:cNvSpPr/>
          <p:nvPr/>
        </p:nvSpPr>
        <p:spPr bwMode="auto">
          <a:xfrm>
            <a:off x="8067510" y="4517409"/>
            <a:ext cx="189386" cy="163773"/>
          </a:xfrm>
          <a:prstGeom prst="downArrow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Стрелка: вверх 8">
            <a:extLst>
              <a:ext uri="{FF2B5EF4-FFF2-40B4-BE49-F238E27FC236}">
                <a16:creationId xmlns:a16="http://schemas.microsoft.com/office/drawing/2014/main" id="{23B54F19-4402-5904-9B86-DFBA6EF74840}"/>
              </a:ext>
            </a:extLst>
          </p:cNvPr>
          <p:cNvSpPr/>
          <p:nvPr/>
        </p:nvSpPr>
        <p:spPr bwMode="auto">
          <a:xfrm>
            <a:off x="8067510" y="6032879"/>
            <a:ext cx="189386" cy="163773"/>
          </a:xfrm>
          <a:prstGeom prst="up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8E5CB-3298-4C26-21A8-7B1877C35C83}"/>
              </a:ext>
            </a:extLst>
          </p:cNvPr>
          <p:cNvSpPr txBox="1"/>
          <p:nvPr/>
        </p:nvSpPr>
        <p:spPr>
          <a:xfrm>
            <a:off x="7696695" y="631911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29576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BBB4-7D7B-3A2A-ED71-C6BAF55D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1A5B92-CA8D-B504-BC20-EFA093D6F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22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DE61E34-374B-AF8E-6134-8BE4EACE6A86}"/>
              </a:ext>
            </a:extLst>
          </p:cNvPr>
          <p:cNvSpPr/>
          <p:nvPr/>
        </p:nvSpPr>
        <p:spPr>
          <a:xfrm>
            <a:off x="0" y="47494"/>
            <a:ext cx="9134310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200" dirty="0">
                <a:solidFill>
                  <a:schemeClr val="tx2">
                    <a:lumMod val="50000"/>
                  </a:schemeClr>
                </a:solidFill>
              </a:rPr>
              <a:t>Достоинства и недостатки приёмов стандартизации и обобщения моделей</a:t>
            </a:r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BFB58E-4140-5A66-CDD2-FE653E95B139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F5D701-B7BD-D208-A7E2-3866BFF32505}"/>
              </a:ext>
            </a:extLst>
          </p:cNvPr>
          <p:cNvSpPr/>
          <p:nvPr/>
        </p:nvSpPr>
        <p:spPr bwMode="auto">
          <a:xfrm>
            <a:off x="4667413" y="1225293"/>
            <a:ext cx="4414825" cy="50485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95250" marR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dirty="0">
                <a:latin typeface="+mn-lt"/>
              </a:rPr>
              <a:t>Ухудшение понимания структуры данных </a:t>
            </a:r>
            <a:r>
              <a:rPr lang="ru-RU" sz="1600" b="0" dirty="0">
                <a:latin typeface="+mn-lt"/>
              </a:rPr>
              <a:t>из-за повышения уровня абстракции</a:t>
            </a:r>
          </a:p>
          <a:p>
            <a:pPr marL="95250" marR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dirty="0">
                <a:latin typeface="+mn-lt"/>
              </a:rPr>
              <a:t>Нарушение нормализации данных </a:t>
            </a:r>
            <a:r>
              <a:rPr lang="ru-RU" sz="1600" b="0" dirty="0">
                <a:latin typeface="+mn-lt"/>
              </a:rPr>
              <a:t>за счёт наложенных атрибутов справочников и реестров</a:t>
            </a:r>
          </a:p>
          <a:p>
            <a:pPr marL="88900"/>
            <a:r>
              <a:rPr lang="ru-RU" sz="1600" dirty="0">
                <a:latin typeface="+mn-lt"/>
              </a:rPr>
              <a:t>Увеличение числа кросс-сущностей </a:t>
            </a:r>
            <a:r>
              <a:rPr lang="ru-RU" sz="1600" b="0" dirty="0">
                <a:latin typeface="+mn-lt"/>
              </a:rPr>
              <a:t>приводит к таким последствиям: </a:t>
            </a:r>
          </a:p>
          <a:p>
            <a:pPr marL="374650" indent="-285750">
              <a:buFont typeface="Arial" panose="020B0604020202020204" pitchFamily="34" charset="0"/>
              <a:buChar char="−"/>
            </a:pPr>
            <a:r>
              <a:rPr lang="ru-RU" sz="1600" dirty="0">
                <a:latin typeface="+mn-lt"/>
              </a:rPr>
              <a:t>затруднение их ведения</a:t>
            </a:r>
            <a:endParaRPr lang="ru-RU" sz="1600" b="0" dirty="0">
              <a:latin typeface="+mn-lt"/>
            </a:endParaRPr>
          </a:p>
          <a:p>
            <a:pPr marL="374650" indent="-285750">
              <a:buFont typeface="Arial" panose="020B0604020202020204" pitchFamily="34" charset="0"/>
              <a:buChar char="−"/>
            </a:pPr>
            <a:r>
              <a:rPr lang="ru-RU" sz="1600" dirty="0">
                <a:latin typeface="+mn-lt"/>
              </a:rPr>
              <a:t>усложнение запросов выборки</a:t>
            </a:r>
            <a:endParaRPr lang="ru-RU" sz="1600" b="0" dirty="0">
              <a:latin typeface="+mn-lt"/>
            </a:endParaRPr>
          </a:p>
          <a:p>
            <a:pPr marL="88900">
              <a:spcBef>
                <a:spcPts val="600"/>
              </a:spcBef>
            </a:pPr>
            <a:r>
              <a:rPr lang="ru-RU" sz="1600" dirty="0">
                <a:latin typeface="+mn-lt"/>
              </a:rPr>
              <a:t>Снижение производительности: </a:t>
            </a:r>
          </a:p>
          <a:p>
            <a:pPr marL="374650" indent="-285750">
              <a:buFont typeface="Arial" panose="020B0604020202020204" pitchFamily="34" charset="0"/>
              <a:buChar char="−"/>
            </a:pPr>
            <a:r>
              <a:rPr lang="ru-RU" sz="1600" b="0" dirty="0">
                <a:latin typeface="+mn-lt"/>
              </a:rPr>
              <a:t>из-за громоздких и рекурсивных справочников</a:t>
            </a:r>
          </a:p>
          <a:p>
            <a:pPr marL="374650" indent="-285750">
              <a:buFont typeface="Arial" panose="020B0604020202020204" pitchFamily="34" charset="0"/>
              <a:buChar char="−"/>
            </a:pPr>
            <a:r>
              <a:rPr lang="ru-RU" sz="1600" b="0" dirty="0">
                <a:latin typeface="+mn-lt"/>
              </a:rPr>
              <a:t>из-за сложных соединений сущностей через кросс-сущности. </a:t>
            </a:r>
          </a:p>
          <a:p>
            <a:pPr marL="88900"/>
            <a:endParaRPr lang="ru-RU" sz="1800" b="0" dirty="0">
              <a:latin typeface="+mn-l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5EB00B7-86E4-5AA1-BB09-7C543ECDA070}"/>
              </a:ext>
            </a:extLst>
          </p:cNvPr>
          <p:cNvSpPr/>
          <p:nvPr/>
        </p:nvSpPr>
        <p:spPr bwMode="auto">
          <a:xfrm>
            <a:off x="539750" y="1225293"/>
            <a:ext cx="4179734" cy="5048505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95250" algn="l">
              <a:spcBef>
                <a:spcPts val="0"/>
              </a:spcBef>
              <a:spcAft>
                <a:spcPts val="600"/>
              </a:spcAft>
            </a:pPr>
            <a:r>
              <a:rPr lang="ru-RU" sz="1600" b="1" i="0" dirty="0">
                <a:effectLst/>
                <a:latin typeface="+mn-lt"/>
              </a:rPr>
              <a:t>Повышение уровня абстр</a:t>
            </a:r>
            <a:r>
              <a:rPr lang="ru-RU" sz="1600" dirty="0">
                <a:latin typeface="+mn-lt"/>
              </a:rPr>
              <a:t>акции моделей данных </a:t>
            </a:r>
            <a:r>
              <a:rPr lang="ru-RU" sz="1600" b="0" dirty="0">
                <a:latin typeface="+mn-lt"/>
              </a:rPr>
              <a:t>важно для интегрированных информационных ресурсов </a:t>
            </a:r>
          </a:p>
          <a:p>
            <a:pPr marL="95250">
              <a:spcBef>
                <a:spcPts val="0"/>
              </a:spcBef>
              <a:spcAft>
                <a:spcPts val="600"/>
              </a:spcAft>
            </a:pPr>
            <a:r>
              <a:rPr lang="ru-RU" sz="1600" dirty="0">
                <a:latin typeface="+mn-lt"/>
              </a:rPr>
              <a:t>Унификация представления справочников </a:t>
            </a:r>
            <a:r>
              <a:rPr lang="ru-RU" sz="1600" b="0" dirty="0">
                <a:latin typeface="+mn-lt"/>
              </a:rPr>
              <a:t>при их  стандартизации</a:t>
            </a:r>
          </a:p>
          <a:p>
            <a:pPr marL="95250">
              <a:spcBef>
                <a:spcPts val="0"/>
              </a:spcBef>
              <a:spcAft>
                <a:spcPts val="600"/>
              </a:spcAft>
            </a:pPr>
            <a:r>
              <a:rPr lang="ru-RU" sz="1600" dirty="0">
                <a:latin typeface="+mn-lt"/>
              </a:rPr>
              <a:t>Уменьшение числа справочников и реестров </a:t>
            </a:r>
            <a:r>
              <a:rPr lang="ru-RU" sz="1600" b="0" dirty="0">
                <a:latin typeface="+mn-lt"/>
              </a:rPr>
              <a:t>за счёт стандартизации и обобщения бизнес-сущностей</a:t>
            </a:r>
          </a:p>
          <a:p>
            <a:pPr marL="95250" algn="l">
              <a:spcBef>
                <a:spcPts val="0"/>
              </a:spcBef>
              <a:spcAft>
                <a:spcPts val="600"/>
              </a:spcAft>
            </a:pPr>
            <a:r>
              <a:rPr lang="ru-RU" sz="1600" b="1" i="0" dirty="0">
                <a:effectLst/>
                <a:latin typeface="+mn-lt"/>
              </a:rPr>
              <a:t>Уменьшение числа независимых сущностей </a:t>
            </a:r>
            <a:r>
              <a:rPr lang="ru-RU" sz="1600" b="0" i="0" dirty="0">
                <a:effectLst/>
                <a:latin typeface="+mn-lt"/>
              </a:rPr>
              <a:t>из-за замены связей кросс-сущностями</a:t>
            </a:r>
            <a:r>
              <a:rPr lang="ru-RU" sz="1600" b="1" i="0" dirty="0">
                <a:effectLst/>
                <a:latin typeface="+mn-lt"/>
              </a:rPr>
              <a:t> </a:t>
            </a:r>
          </a:p>
          <a:p>
            <a:pPr marL="95250" algn="l">
              <a:spcBef>
                <a:spcPts val="0"/>
              </a:spcBef>
              <a:spcAft>
                <a:spcPts val="600"/>
              </a:spcAft>
            </a:pPr>
            <a:r>
              <a:rPr lang="ru-RU" sz="1600" dirty="0">
                <a:latin typeface="+mn-lt"/>
              </a:rPr>
              <a:t>Гибкость моделей данных </a:t>
            </a:r>
            <a:r>
              <a:rPr lang="ru-RU" sz="1600" b="0" dirty="0">
                <a:latin typeface="+mn-lt"/>
              </a:rPr>
              <a:t>за счёт расширения унифицированных справочников, добавления и изменение связей через кросс-сущности. </a:t>
            </a:r>
            <a:endParaRPr lang="ru-RU" sz="1800" i="0" dirty="0"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5ACAE-68A8-DF33-3D81-47FC711C9368}"/>
              </a:ext>
            </a:extLst>
          </p:cNvPr>
          <p:cNvSpPr txBox="1"/>
          <p:nvPr/>
        </p:nvSpPr>
        <p:spPr>
          <a:xfrm>
            <a:off x="685800" y="6314980"/>
            <a:ext cx="7810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Рассмотренные приёмы оправданы при неопределённых или постоянно изменяющихся структурах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A7837-3BDB-16E1-B0CF-59D4DCA5230A}"/>
              </a:ext>
            </a:extLst>
          </p:cNvPr>
          <p:cNvSpPr txBox="1"/>
          <p:nvPr/>
        </p:nvSpPr>
        <p:spPr>
          <a:xfrm>
            <a:off x="7634376" y="1015369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00915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27FA0-2B1E-ACA0-11D5-DF10EA8D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194A459-19CB-4FCB-73F4-B42B51BD8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23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26570DA-876A-8115-F606-C2A6ADC529DD}"/>
              </a:ext>
            </a:extLst>
          </p:cNvPr>
          <p:cNvSpPr/>
          <p:nvPr/>
        </p:nvSpPr>
        <p:spPr>
          <a:xfrm>
            <a:off x="0" y="145983"/>
            <a:ext cx="9134310" cy="9787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442913" indent="-12700">
              <a:lnSpc>
                <a:spcPct val="90000"/>
              </a:lnSpc>
              <a:defRPr/>
            </a:pPr>
            <a:r>
              <a:rPr lang="ru-RU" altLang="ru-RU" sz="3200" kern="0" dirty="0">
                <a:solidFill>
                  <a:schemeClr val="tx2">
                    <a:lumMod val="50000"/>
                  </a:schemeClr>
                </a:solidFill>
              </a:rPr>
              <a:t>Какие</a:t>
            </a:r>
            <a:r>
              <a:rPr lang="ru-RU" altLang="ru-RU" sz="3200" kern="0" dirty="0">
                <a:solidFill>
                  <a:schemeClr val="tx2">
                    <a:lumMod val="75000"/>
                  </a:schemeClr>
                </a:solidFill>
              </a:rPr>
              <a:t> знания по универсальной модели данных </a:t>
            </a:r>
            <a:r>
              <a:rPr lang="ru-RU" altLang="ru-RU" sz="3200" kern="0" dirty="0">
                <a:solidFill>
                  <a:schemeClr val="tx2">
                    <a:lumMod val="50000"/>
                  </a:schemeClr>
                </a:solidFill>
              </a:rPr>
              <a:t>проверяются в РК</a:t>
            </a:r>
            <a:r>
              <a:rPr lang="en-US" altLang="ru-RU" sz="3200" kern="0" dirty="0">
                <a:solidFill>
                  <a:schemeClr val="tx2">
                    <a:lumMod val="50000"/>
                  </a:schemeClr>
                </a:solidFill>
              </a:rPr>
              <a:t>2</a:t>
            </a:r>
            <a:r>
              <a:rPr lang="ru-RU" altLang="ru-RU" sz="3200" kern="0" dirty="0">
                <a:solidFill>
                  <a:schemeClr val="tx2">
                    <a:lumMod val="50000"/>
                  </a:schemeClr>
                </a:solidFill>
              </a:rPr>
              <a:t>?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34ADD4-A649-17D4-DAD6-CC464B862163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Что такое универсальная модель данных?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Возможности и особенности УМД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Приёмы стандартизации и обобщения модели данных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Пример обобщения подобных сущностей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Пример стандартизации: объединение справочников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Пример стандартизации: рекурсия иерархии справочников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Пример обобщения связей за счёт кросс-сущностей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Результаты обобщения и стандартизации модели данных</a:t>
            </a:r>
          </a:p>
          <a:p>
            <a:pPr marL="633413" lvl="1" indent="-369888">
              <a:spcAft>
                <a:spcPts val="0"/>
              </a:spcAft>
              <a:buFont typeface="+mj-lt"/>
              <a:buAutoNum type="arabicPeriod"/>
            </a:pPr>
            <a:r>
              <a:rPr lang="ru-RU" sz="2200" b="0" dirty="0">
                <a:latin typeface="+mn-lt"/>
              </a:rPr>
              <a:t>Достоинства и недостатки универсализации моделей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30149-482B-684B-8095-51C5EB12254D}"/>
              </a:ext>
            </a:extLst>
          </p:cNvPr>
          <p:cNvSpPr txBox="1"/>
          <p:nvPr/>
        </p:nvSpPr>
        <p:spPr>
          <a:xfrm>
            <a:off x="7652450" y="720397"/>
            <a:ext cx="1311235" cy="646331"/>
          </a:xfrm>
          <a:prstGeom prst="rect">
            <a:avLst/>
          </a:prstGeom>
          <a:noFill/>
        </p:spPr>
        <p:txBody>
          <a:bodyPr wrap="square">
            <a:prstTxWarp prst="textStop">
              <a:avLst/>
            </a:prstTxWarp>
            <a:spAutoFit/>
          </a:bodyPr>
          <a:lstStyle/>
          <a:p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УМД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59549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24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-75617"/>
            <a:ext cx="913431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354013"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Модели «сущность – атрибут – значение» </a:t>
            </a:r>
            <a:r>
              <a:rPr lang="ru-RU" sz="3600" b="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ru-RU" sz="3600" b="0" dirty="0" err="1">
                <a:solidFill>
                  <a:schemeClr val="tx2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</a:rPr>
              <a:t>Entity</a:t>
            </a:r>
            <a:r>
              <a:rPr lang="ru-RU" sz="3600" b="0" dirty="0">
                <a:solidFill>
                  <a:schemeClr val="tx2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</a:rPr>
              <a:t>-</a:t>
            </a:r>
            <a:r>
              <a:rPr lang="ru-RU" sz="3600" b="0" dirty="0" err="1">
                <a:solidFill>
                  <a:schemeClr val="tx2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</a:rPr>
              <a:t>Attribute</a:t>
            </a:r>
            <a:r>
              <a:rPr lang="ru-RU" sz="3600" b="0" dirty="0">
                <a:solidFill>
                  <a:schemeClr val="tx2">
                    <a:lumMod val="50000"/>
                  </a:schemeClr>
                </a:solidFill>
                <a:latin typeface="+mn-lt"/>
                <a:ea typeface="Times New Roman" panose="02020603050405020304" pitchFamily="18" charset="0"/>
              </a:rPr>
              <a:t>-Value)</a:t>
            </a:r>
            <a:endParaRPr lang="en-US" sz="3600" b="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lvl="1"/>
            <a:r>
              <a:rPr lang="ru-RU" b="0" i="1" dirty="0">
                <a:solidFill>
                  <a:schemeClr val="tx2">
                    <a:lumMod val="7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Универсальная модель данных с фиксированным набором таблиц для гибкого представления переменного (неопределённого) состава атрибутов - свойств одной сущности или для </a:t>
            </a:r>
            <a:r>
              <a:rPr lang="ru-RU" b="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объединения сущностей, различающихся атрибутами - свойствами.</a:t>
            </a:r>
          </a:p>
          <a:p>
            <a:pPr lvl="1"/>
            <a:endParaRPr lang="ru-RU" sz="2000" b="0" dirty="0">
              <a:effectLst/>
              <a:latin typeface="+mn-lt"/>
              <a:ea typeface="Times New Roman" panose="02020603050405020304" pitchFamily="18" charset="0"/>
            </a:endParaRPr>
          </a:p>
          <a:p>
            <a:pPr lvl="1"/>
            <a:r>
              <a:rPr lang="ru-RU" sz="2000" b="0" dirty="0">
                <a:effectLst/>
                <a:latin typeface="+mn-lt"/>
                <a:ea typeface="Times New Roman" panose="02020603050405020304" pitchFamily="18" charset="0"/>
              </a:rPr>
              <a:t>Модель оптимизирована для эффективного хранения разреженных матриц или набора неопределённых свойств </a:t>
            </a:r>
            <a:br>
              <a:rPr lang="ru-RU" sz="2000" b="0" dirty="0">
                <a:effectLst/>
                <a:latin typeface="+mn-lt"/>
                <a:ea typeface="Times New Roman" panose="02020603050405020304" pitchFamily="18" charset="0"/>
              </a:rPr>
            </a:br>
            <a:r>
              <a:rPr lang="ru-RU" sz="2000" b="0" dirty="0">
                <a:effectLst/>
                <a:latin typeface="+mn-lt"/>
                <a:ea typeface="Times New Roman" panose="02020603050405020304" pitchFamily="18" charset="0"/>
              </a:rPr>
              <a:t>или значений данных.</a:t>
            </a:r>
          </a:p>
          <a:p>
            <a:pPr lvl="1"/>
            <a:r>
              <a:rPr lang="ru-RU" sz="2000" b="0" dirty="0">
                <a:latin typeface="+mn-lt"/>
                <a:ea typeface="Times New Roman" panose="02020603050405020304" pitchFamily="18" charset="0"/>
              </a:rPr>
              <a:t>Другие названия </a:t>
            </a:r>
            <a:r>
              <a:rPr lang="ru-RU" sz="2000" b="0" i="1" dirty="0">
                <a:latin typeface="+mn-lt"/>
                <a:ea typeface="Times New Roman" panose="02020603050405020304" pitchFamily="18" charset="0"/>
              </a:rPr>
              <a:t>вертикальная модель </a:t>
            </a:r>
            <a:r>
              <a:rPr lang="ru-RU" sz="2000" b="0" dirty="0">
                <a:latin typeface="+mn-lt"/>
                <a:ea typeface="Times New Roman" panose="02020603050405020304" pitchFamily="18" charset="0"/>
              </a:rPr>
              <a:t>данных или</a:t>
            </a:r>
            <a:r>
              <a:rPr lang="ru-RU" sz="2000" b="0" i="1" dirty="0">
                <a:latin typeface="+mn-lt"/>
                <a:ea typeface="Times New Roman" panose="02020603050405020304" pitchFamily="18" charset="0"/>
              </a:rPr>
              <a:t> открытая схема.</a:t>
            </a:r>
            <a:endParaRPr lang="ru-RU" sz="2000" b="0" i="1" dirty="0">
              <a:effectLst/>
              <a:latin typeface="+mn-lt"/>
              <a:ea typeface="Times New Roman" panose="02020603050405020304" pitchFamily="18" charset="0"/>
            </a:endParaRPr>
          </a:p>
          <a:p>
            <a:pPr lvl="1"/>
            <a:endParaRPr lang="ru-RU" sz="20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86347D-52E0-5B46-1FC7-420C8F8CF4EC}"/>
              </a:ext>
            </a:extLst>
          </p:cNvPr>
          <p:cNvSpPr txBox="1"/>
          <p:nvPr/>
        </p:nvSpPr>
        <p:spPr>
          <a:xfrm>
            <a:off x="7600477" y="419387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9905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25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Сценарии применения 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2000" b="0" dirty="0"/>
          </a:p>
          <a:p>
            <a:pPr marL="176212" lvl="1"/>
            <a:r>
              <a:rPr lang="ru-RU" sz="2000" kern="1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Неопределённый или переменный состав атрибутов сущности предметной области</a:t>
            </a:r>
            <a:endParaRPr lang="ru-RU" sz="2000" kern="1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2313" lvl="1">
              <a:lnSpc>
                <a:spcPct val="130000"/>
              </a:lnSpc>
              <a:spcBef>
                <a:spcPts val="0"/>
              </a:spcBef>
            </a:pPr>
            <a:r>
              <a:rPr lang="ru-RU" sz="1800" b="0" kern="100" dirty="0">
                <a:solidFill>
                  <a:srgbClr val="000000"/>
                </a:solidFill>
                <a:effectLst/>
                <a:latin typeface="Nunito Sans" panose="020F0502020204030204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Пример 1. Химические анализы минералов</a:t>
            </a:r>
            <a:br>
              <a:rPr lang="ru-RU" sz="1800" b="0" kern="100" dirty="0">
                <a:solidFill>
                  <a:srgbClr val="000000"/>
                </a:solidFill>
                <a:effectLst/>
                <a:latin typeface="Nunito Sans" panose="020F0502020204030204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kern="100" dirty="0">
                <a:solidFill>
                  <a:srgbClr val="000000"/>
                </a:solidFill>
                <a:latin typeface="Nunito Sans" panose="020F0502020204030204" pitchFamily="2" charset="-52"/>
                <a:cs typeface="Times New Roman" panose="02020603050405020304" pitchFamily="18" charset="0"/>
              </a:rPr>
              <a:t>Пример 2. Состав продуктов питания</a:t>
            </a:r>
            <a:br>
              <a:rPr lang="ru-RU" sz="1800" kern="100" dirty="0">
                <a:solidFill>
                  <a:srgbClr val="000000"/>
                </a:solidFill>
                <a:latin typeface="Nunito Sans" panose="020F0502020204030204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kern="100" dirty="0">
                <a:solidFill>
                  <a:srgbClr val="000000"/>
                </a:solidFill>
                <a:latin typeface="Nunito Sans" panose="020F0502020204030204" pitchFamily="2" charset="-52"/>
                <a:cs typeface="Times New Roman" panose="02020603050405020304" pitchFamily="18" charset="0"/>
              </a:rPr>
              <a:t>Пример 3. Состав финансовой отчётности</a:t>
            </a:r>
          </a:p>
          <a:p>
            <a:pPr marL="722313" lvl="1">
              <a:lnSpc>
                <a:spcPct val="130000"/>
              </a:lnSpc>
              <a:spcBef>
                <a:spcPts val="0"/>
              </a:spcBef>
            </a:pPr>
            <a:r>
              <a:rPr lang="ru-RU" sz="1800" b="0" kern="100" dirty="0">
                <a:solidFill>
                  <a:srgbClr val="000000"/>
                </a:solidFill>
                <a:latin typeface="Nunito Sans" panose="020F0502020204030204" pitchFamily="2" charset="-52"/>
                <a:cs typeface="Times New Roman" panose="02020603050405020304" pitchFamily="18" charset="0"/>
              </a:rPr>
              <a:t>Пример 4. Медицинская диагностика</a:t>
            </a:r>
          </a:p>
          <a:p>
            <a:pPr marL="176213" lvl="1">
              <a:lnSpc>
                <a:spcPct val="130000"/>
              </a:lnSpc>
              <a:spcBef>
                <a:spcPts val="0"/>
              </a:spcBef>
            </a:pPr>
            <a:r>
              <a:rPr lang="ru-RU" sz="2000" kern="1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Объединение сущностей, различающихся атрибутами</a:t>
            </a:r>
          </a:p>
          <a:p>
            <a:pPr marL="722313" lvl="1">
              <a:lnSpc>
                <a:spcPct val="130000"/>
              </a:lnSpc>
              <a:spcBef>
                <a:spcPts val="0"/>
              </a:spcBef>
            </a:pPr>
            <a:r>
              <a:rPr lang="ru-RU" sz="1800" b="0" kern="100" dirty="0">
                <a:solidFill>
                  <a:srgbClr val="000000"/>
                </a:solidFill>
                <a:latin typeface="Nunito Sans" panose="020F0502020204030204" pitchFamily="2" charset="-52"/>
                <a:cs typeface="Times New Roman" panose="02020603050405020304" pitchFamily="18" charset="0"/>
              </a:rPr>
              <a:t>Пример 5. Ассортимент товаров в магазине</a:t>
            </a:r>
          </a:p>
          <a:p>
            <a:pPr marL="722313" lvl="1">
              <a:lnSpc>
                <a:spcPct val="130000"/>
              </a:lnSpc>
              <a:spcBef>
                <a:spcPts val="0"/>
              </a:spcBef>
            </a:pPr>
            <a:r>
              <a:rPr lang="ru-RU" sz="1800" b="0" kern="100" dirty="0">
                <a:solidFill>
                  <a:srgbClr val="000000"/>
                </a:solidFill>
                <a:latin typeface="Nunito Sans" panose="020F0502020204030204" pitchFamily="2" charset="-52"/>
                <a:cs typeface="Times New Roman" panose="02020603050405020304" pitchFamily="18" charset="0"/>
              </a:rPr>
              <a:t>Пример 6. Работа с разными типами клиентов компании</a:t>
            </a:r>
          </a:p>
          <a:p>
            <a:pPr marL="176213" lvl="1">
              <a:lnSpc>
                <a:spcPct val="130000"/>
              </a:lnSpc>
              <a:spcBef>
                <a:spcPts val="0"/>
              </a:spcBef>
            </a:pPr>
            <a:r>
              <a:rPr lang="ru-RU" sz="2000" kern="1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Неопределённый состав сущностей предметной области</a:t>
            </a:r>
          </a:p>
          <a:p>
            <a:pPr marL="722313" lvl="1">
              <a:lnSpc>
                <a:spcPct val="130000"/>
              </a:lnSpc>
              <a:spcBef>
                <a:spcPts val="0"/>
              </a:spcBef>
            </a:pPr>
            <a:r>
              <a:rPr lang="ru-RU" sz="1800" b="0" kern="100" dirty="0">
                <a:solidFill>
                  <a:srgbClr val="000000"/>
                </a:solidFill>
                <a:latin typeface="Nunito Sans" panose="020F0502020204030204" pitchFamily="2" charset="-52"/>
                <a:cs typeface="Times New Roman" panose="02020603050405020304" pitchFamily="18" charset="0"/>
              </a:rPr>
              <a:t>Пример 7. Учёт объектов городского хозяйства</a:t>
            </a:r>
          </a:p>
          <a:p>
            <a:pPr marL="722313" lvl="1">
              <a:lnSpc>
                <a:spcPct val="130000"/>
              </a:lnSpc>
              <a:spcBef>
                <a:spcPts val="0"/>
              </a:spcBef>
            </a:pPr>
            <a:r>
              <a:rPr lang="ru-RU" sz="1800" b="0" kern="100" dirty="0">
                <a:solidFill>
                  <a:srgbClr val="000000"/>
                </a:solidFill>
                <a:latin typeface="Nunito Sans" panose="020F0502020204030204" pitchFamily="2" charset="-52"/>
                <a:cs typeface="Times New Roman" panose="02020603050405020304" pitchFamily="18" charset="0"/>
              </a:rPr>
              <a:t>Пример 8. Прототипирование БД (?)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E2265-50C0-224C-6A08-53989F875528}"/>
              </a:ext>
            </a:extLst>
          </p:cNvPr>
          <p:cNvSpPr txBox="1"/>
          <p:nvPr/>
        </p:nvSpPr>
        <p:spPr>
          <a:xfrm>
            <a:off x="5815922" y="377797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80689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9FEE0-7DA9-D88E-4389-8D8A5F23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DC48FC0-DAF3-6D99-ADED-849D92C0F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26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32AF90-3BF7-4874-7C21-D0A7E096F48F}"/>
              </a:ext>
            </a:extLst>
          </p:cNvPr>
          <p:cNvSpPr/>
          <p:nvPr/>
        </p:nvSpPr>
        <p:spPr>
          <a:xfrm>
            <a:off x="0" y="-75617"/>
            <a:ext cx="913431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Разреженная таблица с плотными фрагментами</a:t>
            </a:r>
            <a:endParaRPr lang="en-US" sz="3600" b="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8826BE-A67D-A989-55CA-97FA9083DC5A}"/>
              </a:ext>
            </a:extLst>
          </p:cNvPr>
          <p:cNvSpPr/>
          <p:nvPr/>
        </p:nvSpPr>
        <p:spPr bwMode="auto">
          <a:xfrm>
            <a:off x="54944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marL="176213" lvl="1"/>
            <a:r>
              <a:rPr lang="ru-RU" sz="2000" b="0" dirty="0"/>
              <a:t>Разбиваем матрицу </a:t>
            </a:r>
            <a:br>
              <a:rPr lang="ru-RU" sz="2000" b="0" dirty="0"/>
            </a:br>
            <a:r>
              <a:rPr lang="ru-RU" sz="2000" b="0" dirty="0"/>
              <a:t>на отдельные таблицы</a:t>
            </a:r>
            <a:br>
              <a:rPr lang="ru-RU" sz="2000" b="0" dirty="0"/>
            </a:br>
            <a:r>
              <a:rPr lang="ru-RU" sz="2000" b="0" dirty="0"/>
              <a:t>по плотным фрагментам </a:t>
            </a:r>
            <a:br>
              <a:rPr lang="ru-RU" sz="2000" b="0" dirty="0"/>
            </a:br>
            <a:r>
              <a:rPr lang="ru-RU" sz="2000" b="0" dirty="0"/>
              <a:t>и связываем вместе.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9DAF917-52BA-DB38-CDE5-7F010E49B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348657"/>
              </p:ext>
            </p:extLst>
          </p:nvPr>
        </p:nvGraphicFramePr>
        <p:xfrm>
          <a:off x="3880344" y="1463213"/>
          <a:ext cx="5070410" cy="292608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507094">
                  <a:extLst>
                    <a:ext uri="{9D8B030D-6E8A-4147-A177-3AD203B41FA5}">
                      <a16:colId xmlns:a16="http://schemas.microsoft.com/office/drawing/2014/main" val="192554940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229479354"/>
                    </a:ext>
                  </a:extLst>
                </a:gridCol>
                <a:gridCol w="457909">
                  <a:extLst>
                    <a:ext uri="{9D8B030D-6E8A-4147-A177-3AD203B41FA5}">
                      <a16:colId xmlns:a16="http://schemas.microsoft.com/office/drawing/2014/main" val="1307560011"/>
                    </a:ext>
                  </a:extLst>
                </a:gridCol>
                <a:gridCol w="556162">
                  <a:extLst>
                    <a:ext uri="{9D8B030D-6E8A-4147-A177-3AD203B41FA5}">
                      <a16:colId xmlns:a16="http://schemas.microsoft.com/office/drawing/2014/main" val="1007565553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849732226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1492767042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476727240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552354778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005260181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772834463"/>
                    </a:ext>
                  </a:extLst>
                </a:gridCol>
              </a:tblGrid>
              <a:tr h="313641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272425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591199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991927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757676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321749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87983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161997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273596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1064876-DF12-F908-443D-6CF0589AC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088063"/>
              </p:ext>
            </p:extLst>
          </p:nvPr>
        </p:nvGraphicFramePr>
        <p:xfrm>
          <a:off x="1952622" y="5033609"/>
          <a:ext cx="1440426" cy="1097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0142">
                  <a:extLst>
                    <a:ext uri="{9D8B030D-6E8A-4147-A177-3AD203B41FA5}">
                      <a16:colId xmlns:a16="http://schemas.microsoft.com/office/drawing/2014/main" val="1917946450"/>
                    </a:ext>
                  </a:extLst>
                </a:gridCol>
                <a:gridCol w="480142">
                  <a:extLst>
                    <a:ext uri="{9D8B030D-6E8A-4147-A177-3AD203B41FA5}">
                      <a16:colId xmlns:a16="http://schemas.microsoft.com/office/drawing/2014/main" val="1000367978"/>
                    </a:ext>
                  </a:extLst>
                </a:gridCol>
                <a:gridCol w="480142">
                  <a:extLst>
                    <a:ext uri="{9D8B030D-6E8A-4147-A177-3AD203B41FA5}">
                      <a16:colId xmlns:a16="http://schemas.microsoft.com/office/drawing/2014/main" val="4212043996"/>
                    </a:ext>
                  </a:extLst>
                </a:gridCol>
              </a:tblGrid>
              <a:tr h="246385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534771"/>
                  </a:ext>
                </a:extLst>
              </a:tr>
              <a:tr h="31245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539136"/>
                  </a:ext>
                </a:extLst>
              </a:tr>
              <a:tr h="31245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936495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2715EBB-5519-3225-9FDB-FB385B14D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10030"/>
              </p:ext>
            </p:extLst>
          </p:nvPr>
        </p:nvGraphicFramePr>
        <p:xfrm>
          <a:off x="5966644" y="4667849"/>
          <a:ext cx="897810" cy="146304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448905">
                  <a:extLst>
                    <a:ext uri="{9D8B030D-6E8A-4147-A177-3AD203B41FA5}">
                      <a16:colId xmlns:a16="http://schemas.microsoft.com/office/drawing/2014/main" val="2841223284"/>
                    </a:ext>
                  </a:extLst>
                </a:gridCol>
                <a:gridCol w="448905">
                  <a:extLst>
                    <a:ext uri="{9D8B030D-6E8A-4147-A177-3AD203B41FA5}">
                      <a16:colId xmlns:a16="http://schemas.microsoft.com/office/drawing/2014/main" val="129683105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041676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309798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0009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58971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9DC70FC-C199-E40D-5D5B-BA80576B9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331957"/>
              </p:ext>
            </p:extLst>
          </p:nvPr>
        </p:nvGraphicFramePr>
        <p:xfrm>
          <a:off x="3816142" y="5033609"/>
          <a:ext cx="1727408" cy="109728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431852">
                  <a:extLst>
                    <a:ext uri="{9D8B030D-6E8A-4147-A177-3AD203B41FA5}">
                      <a16:colId xmlns:a16="http://schemas.microsoft.com/office/drawing/2014/main" val="485669446"/>
                    </a:ext>
                  </a:extLst>
                </a:gridCol>
                <a:gridCol w="431852">
                  <a:extLst>
                    <a:ext uri="{9D8B030D-6E8A-4147-A177-3AD203B41FA5}">
                      <a16:colId xmlns:a16="http://schemas.microsoft.com/office/drawing/2014/main" val="3903854791"/>
                    </a:ext>
                  </a:extLst>
                </a:gridCol>
                <a:gridCol w="431852">
                  <a:extLst>
                    <a:ext uri="{9D8B030D-6E8A-4147-A177-3AD203B41FA5}">
                      <a16:colId xmlns:a16="http://schemas.microsoft.com/office/drawing/2014/main" val="1292853098"/>
                    </a:ext>
                  </a:extLst>
                </a:gridCol>
                <a:gridCol w="431852">
                  <a:extLst>
                    <a:ext uri="{9D8B030D-6E8A-4147-A177-3AD203B41FA5}">
                      <a16:colId xmlns:a16="http://schemas.microsoft.com/office/drawing/2014/main" val="3597328547"/>
                    </a:ext>
                  </a:extLst>
                </a:gridCol>
              </a:tblGrid>
              <a:tr h="27509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53770"/>
                  </a:ext>
                </a:extLst>
              </a:tr>
              <a:tr h="27509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586097"/>
                  </a:ext>
                </a:extLst>
              </a:tr>
              <a:tr h="27509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0569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54E4E5AD-B911-B16C-4914-B7EECF528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35697"/>
              </p:ext>
            </p:extLst>
          </p:nvPr>
        </p:nvGraphicFramePr>
        <p:xfrm>
          <a:off x="1052049" y="3164169"/>
          <a:ext cx="540774" cy="296672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540774">
                  <a:extLst>
                    <a:ext uri="{9D8B030D-6E8A-4147-A177-3AD203B41FA5}">
                      <a16:colId xmlns:a16="http://schemas.microsoft.com/office/drawing/2014/main" val="833124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47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01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2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60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12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0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674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668581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2E0B30DE-D00E-D603-7046-ADC2B1F97404}"/>
              </a:ext>
            </a:extLst>
          </p:cNvPr>
          <p:cNvCxnSpPr>
            <a:cxnSpLocks/>
            <a:stCxn id="6" idx="1"/>
            <a:endCxn id="9" idx="3"/>
          </p:cNvCxnSpPr>
          <p:nvPr/>
        </p:nvCxnSpPr>
        <p:spPr bwMode="auto">
          <a:xfrm flipH="1" flipV="1">
            <a:off x="1592823" y="4647529"/>
            <a:ext cx="359799" cy="93472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stealth" w="lg" len="lg"/>
          </a:ln>
          <a:effectLst/>
        </p:spPr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9139C4BD-4A42-A1D5-CB25-5BEEE139C7BA}"/>
              </a:ext>
            </a:extLst>
          </p:cNvPr>
          <p:cNvCxnSpPr>
            <a:cxnSpLocks/>
            <a:endCxn id="9" idx="3"/>
          </p:cNvCxnSpPr>
          <p:nvPr/>
        </p:nvCxnSpPr>
        <p:spPr bwMode="auto">
          <a:xfrm flipH="1" flipV="1">
            <a:off x="1592823" y="4647529"/>
            <a:ext cx="2974332" cy="38608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5A773B4-F83B-5500-4062-4F3DF80C04D9}"/>
              </a:ext>
            </a:extLst>
          </p:cNvPr>
          <p:cNvCxnSpPr>
            <a:cxnSpLocks/>
            <a:stCxn id="7" idx="0"/>
            <a:endCxn id="9" idx="3"/>
          </p:cNvCxnSpPr>
          <p:nvPr/>
        </p:nvCxnSpPr>
        <p:spPr bwMode="auto">
          <a:xfrm flipH="1" flipV="1">
            <a:off x="1592823" y="4647529"/>
            <a:ext cx="4822726" cy="2032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stealth" w="lg" len="lg"/>
          </a:ln>
          <a:effectLst/>
        </p:spPr>
      </p:cxnSp>
      <p:sp>
        <p:nvSpPr>
          <p:cNvPr id="21" name="Стрелка: изогнутая 20">
            <a:extLst>
              <a:ext uri="{FF2B5EF4-FFF2-40B4-BE49-F238E27FC236}">
                <a16:creationId xmlns:a16="http://schemas.microsoft.com/office/drawing/2014/main" id="{AECD488B-CA8B-177C-075B-630144C91372}"/>
              </a:ext>
            </a:extLst>
          </p:cNvPr>
          <p:cNvSpPr/>
          <p:nvPr/>
        </p:nvSpPr>
        <p:spPr bwMode="auto">
          <a:xfrm rot="16200000" flipH="1">
            <a:off x="2559903" y="3154574"/>
            <a:ext cx="1015524" cy="1238865"/>
          </a:xfrm>
          <a:prstGeom prst="bentArrow">
            <a:avLst>
              <a:gd name="adj1" fmla="val 25000"/>
              <a:gd name="adj2" fmla="val 22368"/>
              <a:gd name="adj3" fmla="val 25000"/>
              <a:gd name="adj4" fmla="val 4375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8F8B9-07EC-7511-437A-BADDB681FD1E}"/>
              </a:ext>
            </a:extLst>
          </p:cNvPr>
          <p:cNvSpPr txBox="1"/>
          <p:nvPr/>
        </p:nvSpPr>
        <p:spPr>
          <a:xfrm>
            <a:off x="7600477" y="478379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30722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744F-B169-1FF3-D7C2-B1AE5D4A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34B988A-B5DD-15B6-10A0-2F00F45F8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27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EEF6AE5-5D3B-301B-4F04-E16C46C1A747}"/>
              </a:ext>
            </a:extLst>
          </p:cNvPr>
          <p:cNvSpPr/>
          <p:nvPr/>
        </p:nvSpPr>
        <p:spPr>
          <a:xfrm>
            <a:off x="0" y="-75617"/>
            <a:ext cx="913431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Разреженная таблица с неплотными фрагментами</a:t>
            </a:r>
            <a:endParaRPr lang="en-US" sz="3600" b="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BA4AD1-69CA-4214-60AF-788E389229CA}"/>
              </a:ext>
            </a:extLst>
          </p:cNvPr>
          <p:cNvSpPr/>
          <p:nvPr/>
        </p:nvSpPr>
        <p:spPr bwMode="auto">
          <a:xfrm>
            <a:off x="539750" y="1243277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lvl="1"/>
            <a:endParaRPr lang="ru-RU" sz="2000" b="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1887BDF-D51D-BEB7-5B7E-EE4893BDF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225435"/>
              </p:ext>
            </p:extLst>
          </p:nvPr>
        </p:nvGraphicFramePr>
        <p:xfrm>
          <a:off x="3768938" y="1402727"/>
          <a:ext cx="5070410" cy="2993438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507094">
                  <a:extLst>
                    <a:ext uri="{9D8B030D-6E8A-4147-A177-3AD203B41FA5}">
                      <a16:colId xmlns:a16="http://schemas.microsoft.com/office/drawing/2014/main" val="192554940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229479354"/>
                    </a:ext>
                  </a:extLst>
                </a:gridCol>
                <a:gridCol w="457909">
                  <a:extLst>
                    <a:ext uri="{9D8B030D-6E8A-4147-A177-3AD203B41FA5}">
                      <a16:colId xmlns:a16="http://schemas.microsoft.com/office/drawing/2014/main" val="1307560011"/>
                    </a:ext>
                  </a:extLst>
                </a:gridCol>
                <a:gridCol w="556162">
                  <a:extLst>
                    <a:ext uri="{9D8B030D-6E8A-4147-A177-3AD203B41FA5}">
                      <a16:colId xmlns:a16="http://schemas.microsoft.com/office/drawing/2014/main" val="1007565553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849732226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1492767042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476727240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552354778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005260181"/>
                    </a:ext>
                  </a:extLst>
                </a:gridCol>
                <a:gridCol w="507035">
                  <a:extLst>
                    <a:ext uri="{9D8B030D-6E8A-4147-A177-3AD203B41FA5}">
                      <a16:colId xmlns:a16="http://schemas.microsoft.com/office/drawing/2014/main" val="2772834463"/>
                    </a:ext>
                  </a:extLst>
                </a:gridCol>
              </a:tblGrid>
              <a:tr h="313641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272425"/>
                  </a:ext>
                </a:extLst>
              </a:tr>
              <a:tr h="43311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591199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991927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757676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321749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87983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161997"/>
                  </a:ext>
                </a:extLst>
              </a:tr>
              <a:tr h="3136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273596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B53B462A-2EA1-39AC-78BE-7C40A1E8D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28341"/>
              </p:ext>
            </p:extLst>
          </p:nvPr>
        </p:nvGraphicFramePr>
        <p:xfrm>
          <a:off x="774807" y="3183187"/>
          <a:ext cx="541226" cy="296672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541226">
                  <a:extLst>
                    <a:ext uri="{9D8B030D-6E8A-4147-A177-3AD203B41FA5}">
                      <a16:colId xmlns:a16="http://schemas.microsoft.com/office/drawing/2014/main" val="833124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47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01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2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60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12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0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674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668581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C8DD4EE-3323-977D-7C9C-A3555018E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20446"/>
              </p:ext>
            </p:extLst>
          </p:nvPr>
        </p:nvGraphicFramePr>
        <p:xfrm>
          <a:off x="1771001" y="1328987"/>
          <a:ext cx="909936" cy="4820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4968">
                  <a:extLst>
                    <a:ext uri="{9D8B030D-6E8A-4147-A177-3AD203B41FA5}">
                      <a16:colId xmlns:a16="http://schemas.microsoft.com/office/drawing/2014/main" val="2986632234"/>
                    </a:ext>
                  </a:extLst>
                </a:gridCol>
                <a:gridCol w="454968">
                  <a:extLst>
                    <a:ext uri="{9D8B030D-6E8A-4147-A177-3AD203B41FA5}">
                      <a16:colId xmlns:a16="http://schemas.microsoft.com/office/drawing/2014/main" val="1473781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58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70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35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28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35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0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33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482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3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437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30125"/>
                  </a:ext>
                </a:extLst>
              </a:tr>
            </a:tbl>
          </a:graphicData>
        </a:graphic>
      </p:graphicFrame>
      <p:sp>
        <p:nvSpPr>
          <p:cNvPr id="13" name="Стрелка: влево 12">
            <a:extLst>
              <a:ext uri="{FF2B5EF4-FFF2-40B4-BE49-F238E27FC236}">
                <a16:creationId xmlns:a16="http://schemas.microsoft.com/office/drawing/2014/main" id="{D94597FE-33E1-09DF-5821-8B7A2E45CC1A}"/>
              </a:ext>
            </a:extLst>
          </p:cNvPr>
          <p:cNvSpPr/>
          <p:nvPr/>
        </p:nvSpPr>
        <p:spPr bwMode="auto">
          <a:xfrm>
            <a:off x="2704097" y="2330245"/>
            <a:ext cx="1056742" cy="486697"/>
          </a:xfrm>
          <a:prstGeom prst="lef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C30F4B4-B64E-E799-227C-EC1AC8F9D8B5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 bwMode="auto">
          <a:xfrm flipH="1">
            <a:off x="1316033" y="3739447"/>
            <a:ext cx="454968" cy="9271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stealth" w="lg" len="lg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4F2E14F-C3B6-5480-5B16-2E7D4FC62773}"/>
              </a:ext>
            </a:extLst>
          </p:cNvPr>
          <p:cNvSpPr txBox="1"/>
          <p:nvPr/>
        </p:nvSpPr>
        <p:spPr>
          <a:xfrm>
            <a:off x="3480619" y="4836141"/>
            <a:ext cx="54767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0" dirty="0"/>
              <a:t>Все разрозненные значения атрибутов выносим в отдельную таблицу с названиями атрибутов и их значениями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3A6146-B400-CB02-30DA-E0092A002BFD}"/>
              </a:ext>
            </a:extLst>
          </p:cNvPr>
          <p:cNvSpPr txBox="1"/>
          <p:nvPr/>
        </p:nvSpPr>
        <p:spPr>
          <a:xfrm>
            <a:off x="7600477" y="478379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8233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891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28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Идея </a:t>
            </a:r>
            <a:r>
              <a:rPr lang="ru-RU" sz="3600" dirty="0" err="1">
                <a:solidFill>
                  <a:schemeClr val="tx2">
                    <a:lumMod val="75000"/>
                  </a:schemeClr>
                </a:solidFill>
              </a:rPr>
              <a:t>метамоделирования</a:t>
            </a: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br>
              <a:rPr lang="en-US" sz="3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таблицы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30302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marL="176213" lvl="1"/>
            <a:r>
              <a:rPr lang="ru-RU" sz="2000" dirty="0"/>
              <a:t>Широкая (горизонтальная) таблица </a:t>
            </a:r>
            <a:br>
              <a:rPr lang="ru-RU" sz="2000" dirty="0"/>
            </a:br>
            <a:r>
              <a:rPr lang="ru-RU" sz="2000" dirty="0"/>
              <a:t>«Простыня»</a:t>
            </a:r>
          </a:p>
          <a:p>
            <a:pPr lvl="1"/>
            <a:endParaRPr lang="ru-RU" sz="2000" b="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02DE299-ACD2-57EF-D2D5-E3C539CE5A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9910" y="24590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2E17C-DE55-E723-A770-89B62F0DA9D9}"/>
              </a:ext>
            </a:extLst>
          </p:cNvPr>
          <p:cNvSpPr txBox="1"/>
          <p:nvPr/>
        </p:nvSpPr>
        <p:spPr>
          <a:xfrm>
            <a:off x="5978155" y="1396827"/>
            <a:ext cx="3028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Узкая (вертикальная) таблица «Портянка»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C7CED5-40A5-0907-FE53-8C8EBE098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36" y="2165818"/>
            <a:ext cx="4648200" cy="19240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B6F595E-A4B4-2728-5C0C-D44D7902D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520" y="2143512"/>
            <a:ext cx="2419350" cy="4019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FD4E76-518E-772F-AFA4-46B9D2A9CA5F}"/>
              </a:ext>
            </a:extLst>
          </p:cNvPr>
          <p:cNvSpPr txBox="1"/>
          <p:nvPr/>
        </p:nvSpPr>
        <p:spPr>
          <a:xfrm>
            <a:off x="7473121" y="377277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53620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29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-75617"/>
            <a:ext cx="913431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Объединение нескольких сущностей 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в модели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1600" b="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2677C3-1043-F8F6-DE66-835E9A63F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3"/>
          <a:stretch/>
        </p:blipFill>
        <p:spPr>
          <a:xfrm>
            <a:off x="968118" y="1769806"/>
            <a:ext cx="7737824" cy="3731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82EC1E-58D1-7D95-0D84-DB63A8241C24}"/>
              </a:ext>
            </a:extLst>
          </p:cNvPr>
          <p:cNvSpPr txBox="1"/>
          <p:nvPr/>
        </p:nvSpPr>
        <p:spPr>
          <a:xfrm>
            <a:off x="2807251" y="452644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135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ED56-084F-09D9-5B22-8E509982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784AF54-66A4-EA74-F00C-1747A1FB0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30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49B6E9-1E1B-6685-7CD4-58FEDE390312}"/>
              </a:ext>
            </a:extLst>
          </p:cNvPr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Варианты реализации модели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ru-RU" sz="36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F7F0E1-FC15-0A64-6DE1-FA76480DB38E}"/>
              </a:ext>
            </a:extLst>
          </p:cNvPr>
          <p:cNvSpPr/>
          <p:nvPr/>
        </p:nvSpPr>
        <p:spPr bwMode="auto">
          <a:xfrm>
            <a:off x="54944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722313" lvl="1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800" b="0" dirty="0"/>
              <a:t>Типовая реализация с 3-мя таблицами</a:t>
            </a:r>
          </a:p>
          <a:p>
            <a:pPr marL="722313" lvl="1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800" b="0" dirty="0"/>
              <a:t>Простая реализация с 2-мя таблицами</a:t>
            </a:r>
          </a:p>
          <a:p>
            <a:pPr marL="722313" lvl="1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800" b="0" dirty="0"/>
              <a:t>Реализация с разделением значений </a:t>
            </a:r>
            <a:br>
              <a:rPr lang="ru-RU" sz="2800" b="0" dirty="0"/>
            </a:br>
            <a:r>
              <a:rPr lang="ru-RU" sz="2800" b="0" dirty="0"/>
              <a:t>по типам</a:t>
            </a:r>
          </a:p>
          <a:p>
            <a:pPr marL="722313" lvl="1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800" b="0" dirty="0"/>
              <a:t>Реализация с отражением экземпляров сущностей</a:t>
            </a:r>
          </a:p>
          <a:p>
            <a:pPr marL="722313" lvl="1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800" b="0" dirty="0"/>
              <a:t>Гибридная реализация с выделением фиксированных и переменных атрибутов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601D4-1660-53CC-429D-967DA63D2E01}"/>
              </a:ext>
            </a:extLst>
          </p:cNvPr>
          <p:cNvSpPr txBox="1"/>
          <p:nvPr/>
        </p:nvSpPr>
        <p:spPr>
          <a:xfrm>
            <a:off x="7600477" y="375143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72923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372D-CE62-A191-53ED-32F7247E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ED076FD-A431-D3E5-4C25-C85158C12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31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A3EC02-C247-C52A-7677-BA5692C10885}"/>
              </a:ext>
            </a:extLst>
          </p:cNvPr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Типовая реализация модели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6E02C3-3A2D-40B6-0C2B-095C5D5617FB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800" b="0" dirty="0"/>
          </a:p>
          <a:p>
            <a:pPr lvl="1"/>
            <a:r>
              <a:rPr lang="ru-RU" sz="1800" b="0" dirty="0" err="1"/>
              <a:t>Денормализованная</a:t>
            </a:r>
            <a:r>
              <a:rPr lang="ru-RU" sz="1800" b="0" dirty="0"/>
              <a:t> модель данных с 3-мя таблицами. </a:t>
            </a:r>
            <a:br>
              <a:rPr lang="en-US" sz="1800" b="0" dirty="0"/>
            </a:br>
            <a:r>
              <a:rPr lang="ru-RU" sz="1800" b="0" dirty="0"/>
              <a:t>В кросс</a:t>
            </a:r>
            <a:r>
              <a:rPr lang="en-US" sz="1800" b="0" dirty="0"/>
              <a:t>-</a:t>
            </a:r>
            <a:r>
              <a:rPr lang="ru-RU" sz="1800" b="0" dirty="0"/>
              <a:t>таблице </a:t>
            </a:r>
            <a:r>
              <a:rPr lang="ru-RU" sz="1800" dirty="0"/>
              <a:t>Значения</a:t>
            </a:r>
            <a:r>
              <a:rPr lang="ru-RU" sz="1800" b="0" dirty="0"/>
              <a:t> заведены ссылки на справочники </a:t>
            </a:r>
            <a:r>
              <a:rPr lang="ru-RU" sz="1800" dirty="0"/>
              <a:t>Атрибуты</a:t>
            </a:r>
            <a:r>
              <a:rPr lang="ru-RU" sz="1800" b="0" dirty="0"/>
              <a:t> и </a:t>
            </a:r>
            <a:r>
              <a:rPr lang="ru-RU" sz="1800" dirty="0"/>
              <a:t>Сущности</a:t>
            </a:r>
            <a:r>
              <a:rPr lang="ru-RU" sz="1800" b="0" dirty="0"/>
              <a:t>, а также значение атрибута. </a:t>
            </a:r>
            <a:br>
              <a:rPr lang="en-US" sz="1800" b="0" dirty="0"/>
            </a:br>
            <a:r>
              <a:rPr lang="ru-RU" sz="1800" b="0" dirty="0"/>
              <a:t>Т.е. имеем атрибут с наложенными значениями строкового типа. </a:t>
            </a:r>
          </a:p>
          <a:p>
            <a:pPr lvl="1"/>
            <a:endParaRPr lang="ru-RU" sz="1800" b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709ED2-B8EE-CF8B-DC68-59085FB91927}"/>
              </a:ext>
            </a:extLst>
          </p:cNvPr>
          <p:cNvSpPr/>
          <p:nvPr/>
        </p:nvSpPr>
        <p:spPr bwMode="auto">
          <a:xfrm>
            <a:off x="1327349" y="2759756"/>
            <a:ext cx="2523281" cy="1150374"/>
          </a:xfrm>
          <a:prstGeom prst="rect">
            <a:avLst/>
          </a:prstGeom>
          <a:solidFill>
            <a:srgbClr val="99FF99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u="sng" dirty="0">
                <a:latin typeface="Arial" charset="0"/>
              </a:rPr>
              <a:t>Сущности</a:t>
            </a:r>
          </a:p>
          <a:p>
            <a:pPr marL="176213" marR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5825" algn="r"/>
              </a:tabLst>
            </a:pPr>
            <a:r>
              <a:rPr lang="en-US" sz="1600" b="0" u="sng" dirty="0">
                <a:latin typeface="Arial" charset="0"/>
              </a:rPr>
              <a:t>entity</a:t>
            </a:r>
            <a:r>
              <a:rPr lang="ru-RU" sz="1600" b="0" u="sng" dirty="0">
                <a:latin typeface="Arial" charset="0"/>
              </a:rPr>
              <a:t>_</a:t>
            </a: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  <a:r>
              <a:rPr lang="en-US" sz="1600" b="0" u="sng" dirty="0">
                <a:latin typeface="Arial" charset="0"/>
              </a:rPr>
              <a:t>	</a:t>
            </a: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INTEGER</a:t>
            </a:r>
          </a:p>
          <a:p>
            <a:pPr marL="176213" marR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name	VARCHAR(64)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440F723-1BD3-C8AA-6903-CDFB85225641}"/>
              </a:ext>
            </a:extLst>
          </p:cNvPr>
          <p:cNvSpPr/>
          <p:nvPr/>
        </p:nvSpPr>
        <p:spPr bwMode="auto">
          <a:xfrm>
            <a:off x="5765449" y="2759756"/>
            <a:ext cx="2523281" cy="1150374"/>
          </a:xfrm>
          <a:prstGeom prst="rect">
            <a:avLst/>
          </a:prstGeom>
          <a:solidFill>
            <a:srgbClr val="99FF99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u="sng" dirty="0">
                <a:latin typeface="Arial" charset="0"/>
              </a:rPr>
              <a:t>Атрибуты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46313" algn="r"/>
              </a:tabLst>
            </a:pPr>
            <a:r>
              <a:rPr kumimoji="0" lang="en-US" sz="16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attrib_id</a:t>
            </a: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	INTEGER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name 	VARCHAR(64)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EA0F0274-EC09-63DE-C088-8D9F89027946}"/>
              </a:ext>
            </a:extLst>
          </p:cNvPr>
          <p:cNvCxnSpPr>
            <a:stCxn id="9" idx="2"/>
            <a:endCxn id="11" idx="1"/>
          </p:cNvCxnSpPr>
          <p:nvPr/>
        </p:nvCxnSpPr>
        <p:spPr bwMode="auto">
          <a:xfrm rot="16200000" flipH="1">
            <a:off x="2408291" y="4090828"/>
            <a:ext cx="1371010" cy="100961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E62E178A-F1B0-796E-063A-05F4AF1D07CA}"/>
              </a:ext>
            </a:extLst>
          </p:cNvPr>
          <p:cNvCxnSpPr>
            <a:endCxn id="11" idx="3"/>
          </p:cNvCxnSpPr>
          <p:nvPr/>
        </p:nvCxnSpPr>
        <p:spPr bwMode="auto">
          <a:xfrm rot="5400000">
            <a:off x="5856054" y="4175960"/>
            <a:ext cx="1371010" cy="839350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9E7BF8AB-E2FD-1D29-F971-1A2751E16220}"/>
              </a:ext>
            </a:extLst>
          </p:cNvPr>
          <p:cNvSpPr/>
          <p:nvPr/>
        </p:nvSpPr>
        <p:spPr bwMode="auto">
          <a:xfrm rot="16200000">
            <a:off x="3359578" y="5164684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1CA87A32-0BA6-C028-52A3-E1F99B998BE4}"/>
              </a:ext>
            </a:extLst>
          </p:cNvPr>
          <p:cNvSpPr/>
          <p:nvPr/>
        </p:nvSpPr>
        <p:spPr bwMode="auto">
          <a:xfrm>
            <a:off x="3233787" y="5217251"/>
            <a:ext cx="129396" cy="138023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Равнобедренный треугольник 18">
            <a:extLst>
              <a:ext uri="{FF2B5EF4-FFF2-40B4-BE49-F238E27FC236}">
                <a16:creationId xmlns:a16="http://schemas.microsoft.com/office/drawing/2014/main" id="{08D08538-C2A7-7E4F-5569-7646299C66D5}"/>
              </a:ext>
            </a:extLst>
          </p:cNvPr>
          <p:cNvSpPr/>
          <p:nvPr/>
        </p:nvSpPr>
        <p:spPr bwMode="auto">
          <a:xfrm rot="19753848">
            <a:off x="6045532" y="5129927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DDE7017-8F97-BC17-F318-1E068B1172D1}"/>
              </a:ext>
            </a:extLst>
          </p:cNvPr>
          <p:cNvSpPr/>
          <p:nvPr/>
        </p:nvSpPr>
        <p:spPr bwMode="auto">
          <a:xfrm>
            <a:off x="6341419" y="5217250"/>
            <a:ext cx="129396" cy="138023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643C12B-4A86-4D19-449C-D13C0C6FDF1A}"/>
              </a:ext>
            </a:extLst>
          </p:cNvPr>
          <p:cNvSpPr/>
          <p:nvPr/>
        </p:nvSpPr>
        <p:spPr bwMode="auto">
          <a:xfrm>
            <a:off x="3598603" y="4542503"/>
            <a:ext cx="2523281" cy="147727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u="sng" dirty="0">
                <a:latin typeface="Arial" charset="0"/>
              </a:rPr>
              <a:t>Значения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46313" algn="r"/>
              </a:tabLst>
            </a:pPr>
            <a:r>
              <a:rPr lang="en-US" sz="1600" b="0" u="sng" dirty="0" err="1">
                <a:latin typeface="Arial" charset="0"/>
              </a:rPr>
              <a:t>value_id</a:t>
            </a:r>
            <a:r>
              <a:rPr lang="en-US" sz="1600" b="0" u="sng" dirty="0">
                <a:latin typeface="Arial" charset="0"/>
              </a:rPr>
              <a:t> 	INTEGER</a:t>
            </a:r>
            <a:endParaRPr lang="ru-RU" sz="1600" b="0" u="sng" dirty="0"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46313" algn="r"/>
              </a:tabLst>
            </a:pPr>
            <a:r>
              <a:rPr lang="en-US" sz="1600" b="0" dirty="0" err="1">
                <a:latin typeface="Arial" charset="0"/>
              </a:rPr>
              <a:t>entity</a:t>
            </a:r>
            <a:r>
              <a:rPr kumimoji="0" lang="en-US" sz="16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_id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	INTEGER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46313" algn="r"/>
              </a:tabLst>
            </a:pPr>
            <a:r>
              <a:rPr lang="en-US" sz="1600" b="0" dirty="0" err="1">
                <a:latin typeface="Arial" charset="0"/>
              </a:rPr>
              <a:t>attrib_id</a:t>
            </a:r>
            <a:r>
              <a:rPr lang="en-US" sz="1600" b="0" dirty="0">
                <a:latin typeface="Arial" charset="0"/>
              </a:rPr>
              <a:t> 	INTEGER</a:t>
            </a:r>
            <a:endParaRPr kumimoji="0" lang="en-US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46313" algn="r"/>
              </a:tabLst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value 	VARCHAR(255)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48C8C-2B89-2587-B6C0-794C09A6921E}"/>
              </a:ext>
            </a:extLst>
          </p:cNvPr>
          <p:cNvSpPr txBox="1"/>
          <p:nvPr/>
        </p:nvSpPr>
        <p:spPr>
          <a:xfrm>
            <a:off x="7300594" y="377797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0053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F8560-EC29-D79F-CE53-2A5E301A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E3CC061-179D-93C2-3DB1-1ED09E87E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32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4E56F6-F032-20FD-E736-0E2EDB78F3F6}"/>
              </a:ext>
            </a:extLst>
          </p:cNvPr>
          <p:cNvSpPr/>
          <p:nvPr/>
        </p:nvSpPr>
        <p:spPr>
          <a:xfrm>
            <a:off x="0" y="478381"/>
            <a:ext cx="7164388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Простая реализация модели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7AB5DE-7E90-5A82-9871-6E6AC8657587}"/>
              </a:ext>
            </a:extLst>
          </p:cNvPr>
          <p:cNvSpPr/>
          <p:nvPr/>
        </p:nvSpPr>
        <p:spPr bwMode="auto">
          <a:xfrm>
            <a:off x="539750" y="1232925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ru-RU" sz="800" b="0" dirty="0"/>
          </a:p>
          <a:p>
            <a:pPr marL="176213">
              <a:spcAft>
                <a:spcPts val="1200"/>
              </a:spcAft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Пример каталога товаров </a:t>
            </a:r>
          </a:p>
          <a:p>
            <a:pPr marL="541338"/>
            <a:r>
              <a:rPr lang="ru-RU" sz="2000" b="0" dirty="0" err="1"/>
              <a:t>Денормализованная</a:t>
            </a:r>
            <a:r>
              <a:rPr lang="ru-RU" sz="2000" b="0" dirty="0"/>
              <a:t> модель с 2-мя таблицами. </a:t>
            </a:r>
            <a:br>
              <a:rPr lang="ru-RU" sz="2000" b="0" dirty="0"/>
            </a:br>
            <a:r>
              <a:rPr lang="ru-RU" sz="2000" b="0" dirty="0"/>
              <a:t>В таблице </a:t>
            </a:r>
            <a:r>
              <a:rPr lang="ru-RU" sz="2000" dirty="0"/>
              <a:t>Атрибут-значение</a:t>
            </a:r>
            <a:r>
              <a:rPr lang="ru-RU" sz="2000" b="0" dirty="0"/>
              <a:t> приведены имена атрибутов, </a:t>
            </a:r>
            <a:br>
              <a:rPr lang="ru-RU" sz="2000" b="0" dirty="0"/>
            </a:br>
            <a:r>
              <a:rPr lang="ru-RU" sz="2000" b="0" dirty="0"/>
              <a:t>их значения и ссылка на справочник </a:t>
            </a:r>
            <a:r>
              <a:rPr lang="ru-RU" sz="2000" dirty="0"/>
              <a:t>Продуктов</a:t>
            </a:r>
            <a:r>
              <a:rPr lang="ru-RU" sz="2000" b="0" dirty="0"/>
              <a:t>. </a:t>
            </a:r>
          </a:p>
          <a:p>
            <a:pPr marL="541338"/>
            <a:r>
              <a:rPr lang="ru-RU" sz="2000" b="0" dirty="0"/>
              <a:t>Атрибуты всех типов данных представлены в виде строки текста. </a:t>
            </a:r>
          </a:p>
          <a:p>
            <a:pPr lvl="1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A4F72D-31C5-189C-F704-7D40D3A34416}"/>
              </a:ext>
            </a:extLst>
          </p:cNvPr>
          <p:cNvSpPr/>
          <p:nvPr/>
        </p:nvSpPr>
        <p:spPr bwMode="auto">
          <a:xfrm>
            <a:off x="1415131" y="3567034"/>
            <a:ext cx="2523281" cy="1492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u="sng" dirty="0">
                <a:latin typeface="Arial" charset="0"/>
              </a:rPr>
              <a:t>Продукты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75" algn="r"/>
              </a:tabLst>
            </a:pP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 </a:t>
            </a:r>
            <a:r>
              <a:rPr kumimoji="0" lang="ru-RU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	</a:t>
            </a: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INTEGER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75" algn="r"/>
              </a:tabLst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name </a:t>
            </a:r>
            <a:r>
              <a:rPr kumimoji="0" lang="ru-RU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	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VARCHAR(255)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75" algn="r"/>
              </a:tabLst>
            </a:pPr>
            <a:r>
              <a:rPr lang="en-US" sz="1600" b="0" dirty="0" err="1">
                <a:latin typeface="Arial" charset="0"/>
              </a:rPr>
              <a:t>artikul</a:t>
            </a:r>
            <a:r>
              <a:rPr lang="en-US" sz="1600" b="0" dirty="0">
                <a:latin typeface="Arial" charset="0"/>
              </a:rPr>
              <a:t> 	VARCHAR(255)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75" algn="r"/>
              </a:tabLst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price 	NUMERIC(</a:t>
            </a:r>
            <a:r>
              <a:rPr lang="en-US" sz="1600" b="0" dirty="0">
                <a:latin typeface="Arial" charset="0"/>
              </a:rPr>
              <a:t>12,2)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031BC059-969E-EBB4-F0CC-B6AEDBBAC961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 bwMode="auto">
          <a:xfrm>
            <a:off x="3938412" y="4313116"/>
            <a:ext cx="959601" cy="194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23297B75-96BD-ACC0-7A1F-9487FB05761B}"/>
              </a:ext>
            </a:extLst>
          </p:cNvPr>
          <p:cNvSpPr/>
          <p:nvPr/>
        </p:nvSpPr>
        <p:spPr bwMode="auto">
          <a:xfrm rot="16200000">
            <a:off x="4647847" y="4196105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AE3F839-8238-FA07-FB50-E25BF3D6F83A}"/>
              </a:ext>
            </a:extLst>
          </p:cNvPr>
          <p:cNvSpPr/>
          <p:nvPr/>
        </p:nvSpPr>
        <p:spPr bwMode="auto">
          <a:xfrm>
            <a:off x="4535704" y="4248672"/>
            <a:ext cx="129396" cy="138023"/>
          </a:xfrm>
          <a:prstGeom prst="ellipse">
            <a:avLst/>
          </a:prstGeom>
          <a:solidFill>
            <a:schemeClr val="bg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CA9A823-0D9C-9DFA-5BEB-7ABFFB7393E0}"/>
              </a:ext>
            </a:extLst>
          </p:cNvPr>
          <p:cNvSpPr/>
          <p:nvPr/>
        </p:nvSpPr>
        <p:spPr bwMode="auto">
          <a:xfrm>
            <a:off x="4898013" y="3568976"/>
            <a:ext cx="2635551" cy="149216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u="sng" dirty="0" err="1">
                <a:latin typeface="Arial" charset="0"/>
              </a:rPr>
              <a:t>Атриб_значения</a:t>
            </a:r>
            <a:endParaRPr lang="ru-RU" sz="1600" u="sng" dirty="0"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u="sng" dirty="0" err="1">
                <a:latin typeface="Arial" charset="0"/>
              </a:rPr>
              <a:t>value_id</a:t>
            </a:r>
            <a:r>
              <a:rPr lang="en-US" sz="1600" b="0" u="sng" dirty="0">
                <a:latin typeface="Arial" charset="0"/>
              </a:rPr>
              <a:t> 	INTEGER</a:t>
            </a:r>
            <a:endParaRPr lang="ru-RU" sz="1600" b="0" u="sng" dirty="0"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dirty="0" err="1">
                <a:latin typeface="Arial" charset="0"/>
              </a:rPr>
              <a:t>product</a:t>
            </a:r>
            <a:r>
              <a:rPr kumimoji="0" lang="en-US" sz="16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_id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</a:t>
            </a:r>
            <a:r>
              <a:rPr kumimoji="0" lang="ru-RU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	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INTEGER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dirty="0">
                <a:latin typeface="Arial" charset="0"/>
              </a:rPr>
              <a:t>attribute</a:t>
            </a:r>
            <a:r>
              <a:rPr lang="ru-RU" sz="1600" b="0" dirty="0">
                <a:latin typeface="Arial" charset="0"/>
              </a:rPr>
              <a:t>	</a:t>
            </a:r>
            <a:r>
              <a:rPr lang="en-US" sz="1600" b="0" dirty="0">
                <a:latin typeface="Arial" charset="0"/>
              </a:rPr>
              <a:t> VARCHAR(120)</a:t>
            </a:r>
            <a:endParaRPr kumimoji="0" lang="en-US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416175" algn="r"/>
              </a:tabLst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value </a:t>
            </a:r>
            <a:r>
              <a:rPr lang="en-US" sz="1600" b="0" dirty="0">
                <a:latin typeface="Arial" charset="0"/>
              </a:rPr>
              <a:t>	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VARCHAR(255)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AAFF6-385D-F426-F99B-EF4B14EAB431}"/>
              </a:ext>
            </a:extLst>
          </p:cNvPr>
          <p:cNvSpPr txBox="1"/>
          <p:nvPr/>
        </p:nvSpPr>
        <p:spPr>
          <a:xfrm>
            <a:off x="7600477" y="478379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0079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8AAC8-F899-AB44-A880-BFF00BB9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4D7F52A-744B-2C92-355F-F141EB7F4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09" y="6374384"/>
            <a:ext cx="2400393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33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F83F6E-BABB-74B1-E88D-4BDEC2B3A9C2}"/>
              </a:ext>
            </a:extLst>
          </p:cNvPr>
          <p:cNvSpPr/>
          <p:nvPr/>
        </p:nvSpPr>
        <p:spPr>
          <a:xfrm>
            <a:off x="0" y="-75617"/>
            <a:ext cx="914400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Реализация модели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с разделением значений по типам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ru-RU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4C204D-D8D6-23FA-BD19-6BA9D074111D}"/>
              </a:ext>
            </a:extLst>
          </p:cNvPr>
          <p:cNvSpPr/>
          <p:nvPr/>
        </p:nvSpPr>
        <p:spPr bwMode="auto">
          <a:xfrm>
            <a:off x="553400" y="1225296"/>
            <a:ext cx="8594560" cy="508342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800" b="0" dirty="0"/>
          </a:p>
          <a:p>
            <a:pPr lvl="1"/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Пример каталога с широкой номенклатурой товаров</a:t>
            </a:r>
          </a:p>
          <a:p>
            <a:pPr lvl="1"/>
            <a:endParaRPr lang="ru-RU" sz="2000" b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A3C58A9-2D80-9F34-F3F5-5780A2D2BB41}"/>
              </a:ext>
            </a:extLst>
          </p:cNvPr>
          <p:cNvSpPr/>
          <p:nvPr/>
        </p:nvSpPr>
        <p:spPr bwMode="auto">
          <a:xfrm>
            <a:off x="1327349" y="2009126"/>
            <a:ext cx="2450503" cy="13710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ru-RU" sz="1600" u="sng" dirty="0">
                <a:latin typeface="Arial" charset="0"/>
              </a:rPr>
              <a:t>Товары</a:t>
            </a:r>
          </a:p>
          <a:p>
            <a:pPr marL="95250" marR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5825" algn="r"/>
              </a:tabLst>
            </a:pP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  <a:r>
              <a:rPr lang="en-US" sz="1600" b="0" u="sng" dirty="0">
                <a:latin typeface="Arial" charset="0"/>
              </a:rPr>
              <a:t>	</a:t>
            </a: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INTEGER</a:t>
            </a:r>
          </a:p>
          <a:p>
            <a:pPr marL="95250" marR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5825" algn="r"/>
              </a:tabLst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name	VARCHAR(</a:t>
            </a:r>
            <a:r>
              <a:rPr kumimoji="0" lang="ru-RU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255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)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95250" algn="just">
              <a:tabLst>
                <a:tab pos="2155825" algn="r"/>
              </a:tabLst>
            </a:pPr>
            <a:r>
              <a:rPr lang="en-US" sz="1600" b="0" dirty="0" err="1">
                <a:latin typeface="Arial" charset="0"/>
              </a:rPr>
              <a:t>artikul</a:t>
            </a:r>
            <a:r>
              <a:rPr lang="en-US" sz="1600" b="0" dirty="0">
                <a:latin typeface="Arial" charset="0"/>
              </a:rPr>
              <a:t> 	VARCHAR(</a:t>
            </a:r>
            <a:r>
              <a:rPr lang="ru-RU" sz="1600" b="0" dirty="0">
                <a:latin typeface="Arial" charset="0"/>
              </a:rPr>
              <a:t>255</a:t>
            </a:r>
            <a:r>
              <a:rPr lang="en-US" sz="1600" b="0" dirty="0">
                <a:latin typeface="Arial" charset="0"/>
              </a:rPr>
              <a:t>)</a:t>
            </a:r>
          </a:p>
          <a:p>
            <a:pPr marL="95250" algn="just">
              <a:tabLst>
                <a:tab pos="2155825" algn="r"/>
              </a:tabLst>
            </a:pPr>
            <a:r>
              <a:rPr lang="en-US" sz="1600" b="0" dirty="0">
                <a:latin typeface="Arial" charset="0"/>
              </a:rPr>
              <a:t>price 	NUMERIC(12,2)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	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EAED61D-1593-F37D-B462-47DCCBEB7DF4}"/>
              </a:ext>
            </a:extLst>
          </p:cNvPr>
          <p:cNvSpPr/>
          <p:nvPr/>
        </p:nvSpPr>
        <p:spPr bwMode="auto">
          <a:xfrm>
            <a:off x="5765450" y="2009126"/>
            <a:ext cx="2314026" cy="1419873"/>
          </a:xfrm>
          <a:prstGeom prst="rect">
            <a:avLst/>
          </a:prstGeom>
          <a:solidFill>
            <a:srgbClr val="99FF99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u="sng" dirty="0">
                <a:latin typeface="Arial" charset="0"/>
              </a:rPr>
              <a:t>Атрибуты</a:t>
            </a:r>
          </a:p>
          <a:p>
            <a:pPr marL="9525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60575" algn="r"/>
              </a:tabLst>
            </a:pPr>
            <a:r>
              <a:rPr kumimoji="0" 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 	INTEGER</a:t>
            </a:r>
          </a:p>
          <a:p>
            <a:pPr marL="9525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60575" algn="r"/>
              </a:tabLst>
            </a:pP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name 	VARCHAR(120)</a:t>
            </a:r>
          </a:p>
          <a:p>
            <a:pPr marL="9525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60575" algn="r"/>
              </a:tabLst>
            </a:pPr>
            <a:r>
              <a:rPr lang="en-US" sz="1600" b="0" dirty="0">
                <a:latin typeface="Arial" charset="0"/>
              </a:rPr>
              <a:t>code	VARCHAR(120)</a:t>
            </a:r>
          </a:p>
          <a:p>
            <a:pPr marL="95250">
              <a:tabLst>
                <a:tab pos="2060575" algn="r"/>
              </a:tabLst>
            </a:pPr>
            <a:r>
              <a:rPr lang="en-US" sz="1600" b="0" dirty="0">
                <a:latin typeface="Arial" charset="0"/>
              </a:rPr>
              <a:t>type 	VARCHAR(20)</a:t>
            </a:r>
          </a:p>
          <a:p>
            <a:pPr marL="9525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5825" algn="r"/>
              </a:tabLst>
            </a:pPr>
            <a:r>
              <a:rPr lang="en-US" sz="1600" b="0" dirty="0">
                <a:latin typeface="Arial" charset="0"/>
              </a:rPr>
              <a:t>	</a:t>
            </a:r>
          </a:p>
        </p:txBody>
      </p: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7AD0E771-70AF-FBE4-E1F6-AD50646B9634}"/>
              </a:ext>
            </a:extLst>
          </p:cNvPr>
          <p:cNvCxnSpPr>
            <a:cxnSpLocks/>
            <a:stCxn id="9" idx="2"/>
            <a:endCxn id="17" idx="1"/>
          </p:cNvCxnSpPr>
          <p:nvPr/>
        </p:nvCxnSpPr>
        <p:spPr bwMode="auto">
          <a:xfrm rot="16200000" flipH="1">
            <a:off x="2299388" y="3633348"/>
            <a:ext cx="1552429" cy="1046002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CC50A627-1201-CED7-2FAA-AD4703263AB4}"/>
              </a:ext>
            </a:extLst>
          </p:cNvPr>
          <p:cNvCxnSpPr>
            <a:cxnSpLocks/>
            <a:stCxn id="10" idx="2"/>
            <a:endCxn id="17" idx="3"/>
          </p:cNvCxnSpPr>
          <p:nvPr/>
        </p:nvCxnSpPr>
        <p:spPr bwMode="auto">
          <a:xfrm rot="5400000">
            <a:off x="5805818" y="3815918"/>
            <a:ext cx="1503565" cy="729727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" name="Равнобедренный треугольник 12">
            <a:extLst>
              <a:ext uri="{FF2B5EF4-FFF2-40B4-BE49-F238E27FC236}">
                <a16:creationId xmlns:a16="http://schemas.microsoft.com/office/drawing/2014/main" id="{E0745BEA-BCBF-6F0F-AFD2-02ABB6D14008}"/>
              </a:ext>
            </a:extLst>
          </p:cNvPr>
          <p:cNvSpPr/>
          <p:nvPr/>
        </p:nvSpPr>
        <p:spPr bwMode="auto">
          <a:xfrm rot="16200000">
            <a:off x="3362999" y="4800988"/>
            <a:ext cx="267419" cy="262037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D448F670-BB53-9188-526C-35BDB707AA3A}"/>
              </a:ext>
            </a:extLst>
          </p:cNvPr>
          <p:cNvSpPr/>
          <p:nvPr/>
        </p:nvSpPr>
        <p:spPr bwMode="auto">
          <a:xfrm>
            <a:off x="3233243" y="4880841"/>
            <a:ext cx="145576" cy="138023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Равнобедренный треугольник 14">
            <a:extLst>
              <a:ext uri="{FF2B5EF4-FFF2-40B4-BE49-F238E27FC236}">
                <a16:creationId xmlns:a16="http://schemas.microsoft.com/office/drawing/2014/main" id="{F2CE2ED3-3DCA-CAB6-4BF9-710FCBA7C291}"/>
              </a:ext>
            </a:extLst>
          </p:cNvPr>
          <p:cNvSpPr/>
          <p:nvPr/>
        </p:nvSpPr>
        <p:spPr bwMode="auto">
          <a:xfrm rot="19605561">
            <a:off x="6109196" y="4796140"/>
            <a:ext cx="300858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B9383D5-B26C-8877-6032-CDA4C69A4943}"/>
              </a:ext>
            </a:extLst>
          </p:cNvPr>
          <p:cNvSpPr/>
          <p:nvPr/>
        </p:nvSpPr>
        <p:spPr bwMode="auto">
          <a:xfrm>
            <a:off x="6419063" y="4863552"/>
            <a:ext cx="145576" cy="138023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7EE4D27-1885-29EF-AD7C-E5F894FC8502}"/>
              </a:ext>
            </a:extLst>
          </p:cNvPr>
          <p:cNvSpPr/>
          <p:nvPr/>
        </p:nvSpPr>
        <p:spPr bwMode="auto">
          <a:xfrm>
            <a:off x="3598603" y="3791874"/>
            <a:ext cx="2594133" cy="228138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ru-RU" sz="1600" u="sng" dirty="0">
                <a:latin typeface="Arial" charset="0"/>
              </a:rPr>
              <a:t>Значения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u="sng" dirty="0">
                <a:latin typeface="Arial" charset="0"/>
              </a:rPr>
              <a:t>id 	INTEGER</a:t>
            </a:r>
            <a:endParaRPr lang="ru-RU" sz="1600" b="0" u="sng" dirty="0"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dirty="0" err="1">
                <a:latin typeface="Arial" charset="0"/>
              </a:rPr>
              <a:t>product</a:t>
            </a:r>
            <a:r>
              <a:rPr kumimoji="0" lang="en-US" sz="16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_id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	INTEGER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dirty="0" err="1">
                <a:latin typeface="Arial" charset="0"/>
              </a:rPr>
              <a:t>attribute_id</a:t>
            </a:r>
            <a:r>
              <a:rPr lang="en-US" sz="1600" b="0" dirty="0">
                <a:latin typeface="Arial" charset="0"/>
              </a:rPr>
              <a:t> 	INTEGER</a:t>
            </a:r>
            <a:endParaRPr kumimoji="0" lang="en-US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kumimoji="0" lang="en-US" sz="16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text_value</a:t>
            </a:r>
            <a:r>
              <a:rPr kumimoji="0" lang="en-US" sz="16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	VARCHAR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dirty="0" err="1">
                <a:latin typeface="Arial" charset="0"/>
              </a:rPr>
              <a:t>int_value</a:t>
            </a:r>
            <a:r>
              <a:rPr lang="en-US" sz="1600" b="0" dirty="0">
                <a:latin typeface="Arial" charset="0"/>
              </a:rPr>
              <a:t> 	INTEGER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dirty="0" err="1">
                <a:latin typeface="Arial" charset="0"/>
              </a:rPr>
              <a:t>real_value</a:t>
            </a:r>
            <a:r>
              <a:rPr lang="en-US" sz="1600" b="0" dirty="0">
                <a:latin typeface="Arial" charset="0"/>
              </a:rPr>
              <a:t> 	DOUBLE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25" algn="r"/>
              </a:tabLst>
            </a:pPr>
            <a:r>
              <a:rPr lang="en-US" sz="1600" b="0" dirty="0" err="1">
                <a:latin typeface="Arial" charset="0"/>
              </a:rPr>
              <a:t>date_value</a:t>
            </a:r>
            <a:r>
              <a:rPr lang="en-US" sz="1600" b="0" dirty="0">
                <a:latin typeface="Arial" charset="0"/>
              </a:rPr>
              <a:t> 	DATE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11425" algn="r"/>
              </a:tabLst>
            </a:pPr>
            <a:r>
              <a:rPr lang="en-US" sz="1600" b="0" dirty="0">
                <a:latin typeface="Arial" charset="0"/>
              </a:rPr>
              <a:t>	</a:t>
            </a: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11425" algn="r"/>
              </a:tabLst>
            </a:pPr>
            <a:endParaRPr lang="en-US" sz="1600" b="0" dirty="0"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11425" algn="r"/>
              </a:tabLst>
            </a:pPr>
            <a:endParaRPr lang="en-US" sz="1600" b="0" dirty="0">
              <a:latin typeface="Arial" charset="0"/>
            </a:endParaRPr>
          </a:p>
          <a:p>
            <a:pPr marL="176213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11425" algn="r"/>
              </a:tabLst>
            </a:pP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2A0D8-D989-AFCB-82E1-81E5503E1113}"/>
              </a:ext>
            </a:extLst>
          </p:cNvPr>
          <p:cNvSpPr txBox="1"/>
          <p:nvPr/>
        </p:nvSpPr>
        <p:spPr>
          <a:xfrm>
            <a:off x="5303057" y="-13366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88925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8F305-CF0A-0C54-C8AB-B947CC40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1F24DB-0F9C-6B30-47FC-D5C73FD18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34</a:t>
            </a:fld>
            <a:endParaRPr lang="ru-RU" alt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46C918-B5EA-D1DD-F83C-731A11AF8FFB}"/>
              </a:ext>
            </a:extLst>
          </p:cNvPr>
          <p:cNvSpPr/>
          <p:nvPr/>
        </p:nvSpPr>
        <p:spPr bwMode="auto">
          <a:xfrm>
            <a:off x="547221" y="1247544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lvl="1"/>
            <a:endParaRPr lang="ru-RU" sz="2000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33BF7-3EB0-A31D-07A1-605A9D88EFA8}"/>
              </a:ext>
            </a:extLst>
          </p:cNvPr>
          <p:cNvSpPr txBox="1"/>
          <p:nvPr/>
        </p:nvSpPr>
        <p:spPr>
          <a:xfrm>
            <a:off x="425064" y="1364080"/>
            <a:ext cx="58256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Представление финансовой отчётности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ADBC74-4FC5-A186-B1AB-1B787FA78FA6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Гибридная реализация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модели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C0B37B2-D89E-7020-4DE6-3F1B631D51B4}"/>
              </a:ext>
            </a:extLst>
          </p:cNvPr>
          <p:cNvSpPr/>
          <p:nvPr/>
        </p:nvSpPr>
        <p:spPr bwMode="auto">
          <a:xfrm>
            <a:off x="6808257" y="1296532"/>
            <a:ext cx="1910679" cy="764280"/>
          </a:xfrm>
          <a:prstGeom prst="rect">
            <a:avLst/>
          </a:prstGeom>
          <a:solidFill>
            <a:srgbClr val="99FF99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600" u="sng" dirty="0" err="1">
                <a:latin typeface="Arial" charset="0"/>
              </a:rPr>
              <a:t>Ед_измерения</a:t>
            </a:r>
            <a:endParaRPr lang="ru-RU" sz="1600" u="sng" dirty="0"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название</a:t>
            </a:r>
            <a:endParaRPr kumimoji="0" lang="ru-RU" sz="1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A5C318-13F8-E724-FFCE-A004303B5BD1}"/>
              </a:ext>
            </a:extLst>
          </p:cNvPr>
          <p:cNvSpPr/>
          <p:nvPr/>
        </p:nvSpPr>
        <p:spPr bwMode="auto">
          <a:xfrm>
            <a:off x="955341" y="2470243"/>
            <a:ext cx="1910678" cy="1652238"/>
          </a:xfrm>
          <a:prstGeom prst="rect">
            <a:avLst/>
          </a:prstGeom>
          <a:solidFill>
            <a:srgbClr val="99FF99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Формы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  <a:endParaRPr kumimoji="0" lang="ru-RU" sz="1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номер формы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код ОКУД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название формы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дата начала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дата конца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9531CC-46A2-2AD1-7805-CBD5F7B23CD7}"/>
              </a:ext>
            </a:extLst>
          </p:cNvPr>
          <p:cNvSpPr/>
          <p:nvPr/>
        </p:nvSpPr>
        <p:spPr bwMode="auto">
          <a:xfrm>
            <a:off x="955341" y="4755654"/>
            <a:ext cx="1910678" cy="1257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Организации</a:t>
            </a:r>
            <a:endParaRPr kumimoji="0" lang="en-US" sz="1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0" dirty="0">
                <a:latin typeface="Arial" charset="0"/>
              </a:rPr>
              <a:t>ID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Наименование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ИНН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О</a:t>
            </a:r>
            <a:r>
              <a:rPr kumimoji="0" lang="ru-RU" sz="14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ГРН</a:t>
            </a:r>
          </a:p>
        </p:txBody>
      </p: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943E611E-3F90-38DD-81EC-513534D6493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 bwMode="auto">
          <a:xfrm flipV="1">
            <a:off x="2866019" y="3293208"/>
            <a:ext cx="991455" cy="315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1" name="Равнобедренный треугольник 20">
            <a:extLst>
              <a:ext uri="{FF2B5EF4-FFF2-40B4-BE49-F238E27FC236}">
                <a16:creationId xmlns:a16="http://schemas.microsoft.com/office/drawing/2014/main" id="{ED50520B-3709-2B77-E159-7956B1FC6367}"/>
              </a:ext>
            </a:extLst>
          </p:cNvPr>
          <p:cNvSpPr/>
          <p:nvPr/>
        </p:nvSpPr>
        <p:spPr bwMode="auto">
          <a:xfrm rot="16200000">
            <a:off x="3607308" y="3179903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98C5BB93-9865-F0E8-1E2F-80823011078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 bwMode="auto">
          <a:xfrm>
            <a:off x="5768153" y="3293208"/>
            <a:ext cx="1044735" cy="527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5" name="Равнобедренный треугольник 24">
            <a:extLst>
              <a:ext uri="{FF2B5EF4-FFF2-40B4-BE49-F238E27FC236}">
                <a16:creationId xmlns:a16="http://schemas.microsoft.com/office/drawing/2014/main" id="{266F26E1-1D15-CE41-018D-0F93302C0BC6}"/>
              </a:ext>
            </a:extLst>
          </p:cNvPr>
          <p:cNvSpPr/>
          <p:nvPr/>
        </p:nvSpPr>
        <p:spPr bwMode="auto">
          <a:xfrm rot="16200000">
            <a:off x="6562722" y="3179903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0C5CBDDA-89A2-306F-0C0C-FE7929768696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 bwMode="auto">
          <a:xfrm flipV="1">
            <a:off x="2866019" y="5377716"/>
            <a:ext cx="991456" cy="682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" name="Равнобедренный треугольник 29">
            <a:extLst>
              <a:ext uri="{FF2B5EF4-FFF2-40B4-BE49-F238E27FC236}">
                <a16:creationId xmlns:a16="http://schemas.microsoft.com/office/drawing/2014/main" id="{8F8D8816-CBCA-BFFD-5A73-F7A503600CF7}"/>
              </a:ext>
            </a:extLst>
          </p:cNvPr>
          <p:cNvSpPr/>
          <p:nvPr/>
        </p:nvSpPr>
        <p:spPr bwMode="auto">
          <a:xfrm rot="16200000">
            <a:off x="3607308" y="5278044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48EA5A2E-DAB5-66B7-8A42-DE3759957F37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 bwMode="auto">
          <a:xfrm flipV="1">
            <a:off x="5768154" y="5373947"/>
            <a:ext cx="1067399" cy="37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8" name="Равнобедренный треугольник 37">
            <a:extLst>
              <a:ext uri="{FF2B5EF4-FFF2-40B4-BE49-F238E27FC236}">
                <a16:creationId xmlns:a16="http://schemas.microsoft.com/office/drawing/2014/main" id="{4307F397-3CD3-A880-035C-CBEBEE9852D8}"/>
              </a:ext>
            </a:extLst>
          </p:cNvPr>
          <p:cNvSpPr/>
          <p:nvPr/>
        </p:nvSpPr>
        <p:spPr bwMode="auto">
          <a:xfrm rot="16200000">
            <a:off x="6585387" y="5258250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610C20B8-96C9-9168-BB2B-43DC2B2695E6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 rot="16200000" flipH="1">
            <a:off x="7485072" y="2339336"/>
            <a:ext cx="561681" cy="463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5" name="Равнобедренный треугольник 44">
            <a:extLst>
              <a:ext uri="{FF2B5EF4-FFF2-40B4-BE49-F238E27FC236}">
                <a16:creationId xmlns:a16="http://schemas.microsoft.com/office/drawing/2014/main" id="{DFD7986A-75D4-2007-7616-E4A2055072BC}"/>
              </a:ext>
            </a:extLst>
          </p:cNvPr>
          <p:cNvSpPr/>
          <p:nvPr/>
        </p:nvSpPr>
        <p:spPr bwMode="auto">
          <a:xfrm>
            <a:off x="7628015" y="2230388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100B9E2F-A70D-7E7C-BB43-2006CD6B7BAA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 bwMode="auto">
          <a:xfrm rot="16200000" flipH="1">
            <a:off x="7539099" y="4353731"/>
            <a:ext cx="467274" cy="901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2" name="Равнобедренный треугольник 51">
            <a:extLst>
              <a:ext uri="{FF2B5EF4-FFF2-40B4-BE49-F238E27FC236}">
                <a16:creationId xmlns:a16="http://schemas.microsoft.com/office/drawing/2014/main" id="{16E0942F-7CE8-187C-3376-BADC3B6F965A}"/>
              </a:ext>
            </a:extLst>
          </p:cNvPr>
          <p:cNvSpPr/>
          <p:nvPr/>
        </p:nvSpPr>
        <p:spPr bwMode="auto">
          <a:xfrm>
            <a:off x="7628014" y="4353815"/>
            <a:ext cx="267419" cy="232913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AEB6699-30B5-C827-68F4-5E5BE16A6FE5}"/>
              </a:ext>
            </a:extLst>
          </p:cNvPr>
          <p:cNvSpPr/>
          <p:nvPr/>
        </p:nvSpPr>
        <p:spPr bwMode="auto">
          <a:xfrm>
            <a:off x="6835553" y="4591877"/>
            <a:ext cx="1883383" cy="15641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Значения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0" u="sng" dirty="0">
                <a:latin typeface="Arial" charset="0"/>
              </a:rPr>
              <a:t>ID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столбец_</a:t>
            </a:r>
            <a:r>
              <a:rPr kumimoji="0" 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  <a:endParaRPr kumimoji="0" lang="ru-RU" sz="1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отчёт_</a:t>
            </a:r>
            <a:r>
              <a:rPr lang="en-US" sz="1400" b="0" dirty="0">
                <a:latin typeface="Arial" charset="0"/>
              </a:rPr>
              <a:t>ID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число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дата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текст</a:t>
            </a:r>
            <a:endParaRPr kumimoji="0" lang="ru-RU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F35ED70-C397-513D-1BAE-03D880254E69}"/>
              </a:ext>
            </a:extLst>
          </p:cNvPr>
          <p:cNvSpPr/>
          <p:nvPr/>
        </p:nvSpPr>
        <p:spPr bwMode="auto">
          <a:xfrm>
            <a:off x="6812888" y="2472365"/>
            <a:ext cx="1910679" cy="1652238"/>
          </a:xfrm>
          <a:prstGeom prst="rect">
            <a:avLst/>
          </a:prstGeom>
          <a:solidFill>
            <a:srgbClr val="99FF99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Столбцы</a:t>
            </a:r>
            <a:endParaRPr kumimoji="0" lang="en-US" sz="1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строка_</a:t>
            </a:r>
            <a:r>
              <a:rPr lang="en-US" sz="1400" b="0" dirty="0">
                <a:latin typeface="Arial" charset="0"/>
              </a:rPr>
              <a:t>ID</a:t>
            </a:r>
            <a:endParaRPr lang="ru-RU" sz="1400" b="0" dirty="0"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ед_изм</a:t>
            </a: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_</a:t>
            </a:r>
            <a:r>
              <a:rPr kumimoji="0" 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  <a:endParaRPr kumimoji="0" lang="ru-RU" sz="1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номер столбца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название столбца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тип значения</a:t>
            </a:r>
            <a:endParaRPr kumimoji="0" lang="ru-RU" sz="1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FCCE26-93F4-889E-1896-D86264477132}"/>
              </a:ext>
            </a:extLst>
          </p:cNvPr>
          <p:cNvSpPr/>
          <p:nvPr/>
        </p:nvSpPr>
        <p:spPr bwMode="auto">
          <a:xfrm>
            <a:off x="3857475" y="4742006"/>
            <a:ext cx="1910679" cy="12714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7800"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Отчёты</a:t>
            </a:r>
            <a:endParaRPr kumimoji="0" lang="en-US" sz="1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орг_</a:t>
            </a:r>
            <a:r>
              <a:rPr lang="en-US" sz="1400" b="0" dirty="0">
                <a:latin typeface="Arial" charset="0"/>
              </a:rPr>
              <a:t>ID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период отчёта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дата отчёта</a:t>
            </a:r>
            <a:endParaRPr kumimoji="0" lang="ru-RU" sz="1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4A0707B-0E5B-FD5E-4603-2E36097A6C49}"/>
              </a:ext>
            </a:extLst>
          </p:cNvPr>
          <p:cNvSpPr/>
          <p:nvPr/>
        </p:nvSpPr>
        <p:spPr bwMode="auto">
          <a:xfrm>
            <a:off x="3857474" y="2483888"/>
            <a:ext cx="1910679" cy="1618640"/>
          </a:xfrm>
          <a:prstGeom prst="rect">
            <a:avLst/>
          </a:prstGeom>
          <a:solidFill>
            <a:srgbClr val="99FF99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Строки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</a:t>
            </a:r>
            <a:endParaRPr kumimoji="0" lang="ru-RU" sz="1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форма_</a:t>
            </a:r>
            <a:r>
              <a:rPr lang="en-US" sz="1400" b="0" dirty="0">
                <a:latin typeface="Arial" charset="0"/>
              </a:rPr>
              <a:t>ID</a:t>
            </a:r>
            <a:endParaRPr kumimoji="0" lang="en-US" sz="1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номер строки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0" dirty="0">
                <a:latin typeface="Arial" charset="0"/>
              </a:rPr>
              <a:t>код строки</a:t>
            </a:r>
          </a:p>
          <a:p>
            <a:pPr marL="177800"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название строки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48B38-02B0-E9D8-DABC-83411B5CDE32}"/>
              </a:ext>
            </a:extLst>
          </p:cNvPr>
          <p:cNvSpPr txBox="1"/>
          <p:nvPr/>
        </p:nvSpPr>
        <p:spPr>
          <a:xfrm>
            <a:off x="2570953" y="479706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5688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73B1-12AB-C7B6-E124-8E247B1B3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1EC7A28-1F9A-08F2-9530-D7515CD4C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35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03B2F0-A919-3B87-CCF5-A5E82B6D813D}"/>
              </a:ext>
            </a:extLst>
          </p:cNvPr>
          <p:cNvSpPr/>
          <p:nvPr/>
        </p:nvSpPr>
        <p:spPr>
          <a:xfrm>
            <a:off x="0" y="35183"/>
            <a:ext cx="9134310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>
              <a:lnSpc>
                <a:spcPct val="90000"/>
              </a:lnSpc>
            </a:pPr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Достоинства и недостатки </a:t>
            </a:r>
            <a:br>
              <a:rPr lang="ru-RU" sz="3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модели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ru-RU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E0D033-13A1-055D-670F-794958CF6E83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ru-RU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FFFFF"/>
              </a:highlight>
              <a:latin typeface="+mn-lt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AFED61-D9BC-5D8C-F9A3-7AEDDA45A6AA}"/>
              </a:ext>
            </a:extLst>
          </p:cNvPr>
          <p:cNvSpPr/>
          <p:nvPr/>
        </p:nvSpPr>
        <p:spPr bwMode="auto">
          <a:xfrm>
            <a:off x="4719484" y="1225294"/>
            <a:ext cx="4414825" cy="50485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95250">
              <a:spcAft>
                <a:spcPts val="600"/>
              </a:spcAft>
            </a:pPr>
            <a:r>
              <a:rPr lang="ru-RU" sz="1800" dirty="0">
                <a:latin typeface="+mn-lt"/>
              </a:rPr>
              <a:t>Нельзя использовать ограничения целостности СУБД</a:t>
            </a:r>
            <a:r>
              <a:rPr lang="ru-RU" sz="1800" b="0" dirty="0">
                <a:latin typeface="+mn-lt"/>
              </a:rPr>
              <a:t>, надо ввод данных  контролировать в клиентской программе.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95250" marR="0" defTabSz="914400" latinLnBrk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>
                <a:latin typeface="+mn-lt"/>
              </a:rPr>
              <a:t>Сложность обработки данных</a:t>
            </a:r>
          </a:p>
          <a:p>
            <a:pPr marL="95250" marR="0" defTabSz="914400" latinLnBrk="0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ru-RU" sz="1800" b="0" dirty="0">
                <a:latin typeface="+mn-lt"/>
              </a:rPr>
              <a:t>из-за трудности индексации и</a:t>
            </a:r>
          </a:p>
          <a:p>
            <a:pPr marL="95250" marR="0" defTabSz="914400" latinLnBrk="0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ru-RU" sz="1800" b="0" dirty="0">
                <a:latin typeface="+mn-lt"/>
              </a:rPr>
              <a:t>невозможности использовать имеющиеся справочники.</a:t>
            </a:r>
          </a:p>
          <a:p>
            <a:pPr marL="95250">
              <a:spcBef>
                <a:spcPts val="600"/>
              </a:spcBef>
            </a:pPr>
            <a:r>
              <a:rPr lang="ru-RU" sz="1800" dirty="0">
                <a:latin typeface="+mn-lt"/>
              </a:rPr>
              <a:t>Падение производительности </a:t>
            </a:r>
            <a:br>
              <a:rPr lang="ru-RU" sz="1800" dirty="0">
                <a:latin typeface="+mn-lt"/>
              </a:rPr>
            </a:br>
            <a:r>
              <a:rPr lang="ru-RU" sz="1800" dirty="0">
                <a:latin typeface="+mn-lt"/>
              </a:rPr>
              <a:t>на порядок </a:t>
            </a:r>
            <a:r>
              <a:rPr lang="ru-RU" sz="1800" b="0" dirty="0">
                <a:latin typeface="+mn-lt"/>
              </a:rPr>
              <a:t>из-за усложнения запросов, чтения сотен тысяч записей, отсутствия оптимизации </a:t>
            </a:r>
            <a:br>
              <a:rPr lang="ru-RU" sz="1800" b="0" dirty="0">
                <a:latin typeface="+mn-lt"/>
              </a:rPr>
            </a:br>
            <a:r>
              <a:rPr lang="ru-RU" sz="1800" b="0" dirty="0">
                <a:latin typeface="+mn-lt"/>
              </a:rPr>
              <a:t>для такой модели данных и возможной конвертации данных.</a:t>
            </a:r>
          </a:p>
          <a:p>
            <a:pPr marL="95250" marR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dirty="0">
              <a:latin typeface="Arial Narrow" panose="020B0606020202030204" pitchFamily="34" charset="0"/>
            </a:endParaRPr>
          </a:p>
          <a:p>
            <a:pPr marL="88900"/>
            <a:endParaRPr lang="ru-RU" sz="2000" b="0" dirty="0">
              <a:latin typeface="+mn-lt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dirty="0">
              <a:latin typeface="Arial Narrow" panose="020B0606020202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5667D9F-9EA8-B3FE-C50D-BBEB48F58BCF}"/>
              </a:ext>
            </a:extLst>
          </p:cNvPr>
          <p:cNvSpPr/>
          <p:nvPr/>
        </p:nvSpPr>
        <p:spPr bwMode="auto">
          <a:xfrm>
            <a:off x="539750" y="1225293"/>
            <a:ext cx="4179734" cy="5048505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ru-RU" sz="1800" b="1" i="0" dirty="0">
              <a:effectLst/>
              <a:latin typeface="+mn-lt"/>
            </a:endParaRPr>
          </a:p>
          <a:p>
            <a:pPr marL="177800" algn="l">
              <a:spcBef>
                <a:spcPts val="0"/>
              </a:spcBef>
              <a:spcAft>
                <a:spcPts val="600"/>
              </a:spcAft>
            </a:pPr>
            <a:r>
              <a:rPr lang="ru-RU" sz="1800" b="1" i="0" dirty="0">
                <a:effectLst/>
                <a:latin typeface="+mn-lt"/>
              </a:rPr>
              <a:t>Абстрактное представление сущности</a:t>
            </a:r>
            <a:r>
              <a:rPr lang="en-US" sz="1800" b="0" dirty="0">
                <a:latin typeface="+mn-lt"/>
              </a:rPr>
              <a:t> c </a:t>
            </a:r>
            <a:r>
              <a:rPr lang="ru-RU" sz="1800" b="0" i="0" dirty="0">
                <a:effectLst/>
                <a:latin typeface="+mn-lt"/>
              </a:rPr>
              <a:t>неограниченны</a:t>
            </a:r>
            <a:r>
              <a:rPr lang="ru-RU" sz="1800" b="0" dirty="0">
                <a:latin typeface="+mn-lt"/>
              </a:rPr>
              <a:t>м</a:t>
            </a:r>
            <a:r>
              <a:rPr lang="ru-RU" sz="1800" b="0" i="0" dirty="0">
                <a:effectLst/>
                <a:latin typeface="+mn-lt"/>
              </a:rPr>
              <a:t> наборов атрибутов для задания простых или составных значений различных типов данных.</a:t>
            </a:r>
          </a:p>
          <a:p>
            <a:pPr marL="177800" algn="l">
              <a:spcBef>
                <a:spcPts val="0"/>
              </a:spcBef>
              <a:spcAft>
                <a:spcPts val="600"/>
              </a:spcAft>
            </a:pPr>
            <a:r>
              <a:rPr lang="ru-RU" sz="1800" dirty="0">
                <a:latin typeface="+mn-lt"/>
              </a:rPr>
              <a:t>Гибкость добавления новых понятий: </a:t>
            </a:r>
            <a:r>
              <a:rPr lang="ru-RU" sz="1800" b="0" dirty="0">
                <a:latin typeface="+mn-lt"/>
              </a:rPr>
              <a:t>не требуется изменение состава и структуры таблиц БД.</a:t>
            </a:r>
          </a:p>
          <a:p>
            <a:pPr marL="177800" algn="l">
              <a:spcBef>
                <a:spcPts val="0"/>
              </a:spcBef>
              <a:spcAft>
                <a:spcPts val="600"/>
              </a:spcAft>
            </a:pPr>
            <a:r>
              <a:rPr lang="ru-RU" sz="1800" dirty="0">
                <a:latin typeface="+mn-lt"/>
              </a:rPr>
              <a:t>Автоматизированное создание </a:t>
            </a:r>
            <a:br>
              <a:rPr lang="ru-RU" sz="1800" dirty="0">
                <a:latin typeface="+mn-lt"/>
              </a:rPr>
            </a:br>
            <a:r>
              <a:rPr lang="ru-RU" sz="1800" dirty="0">
                <a:latin typeface="+mn-lt"/>
              </a:rPr>
              <a:t>и изменение атрибутов: </a:t>
            </a:r>
            <a:r>
              <a:rPr lang="ru-RU" sz="1800" b="0" dirty="0">
                <a:latin typeface="+mn-lt"/>
              </a:rPr>
              <a:t>возможно на любом этапе жизненного цикла системы.</a:t>
            </a:r>
          </a:p>
          <a:p>
            <a:pPr marL="177800">
              <a:spcBef>
                <a:spcPts val="0"/>
              </a:spcBef>
              <a:spcAft>
                <a:spcPts val="600"/>
              </a:spcAft>
            </a:pPr>
            <a:r>
              <a:rPr lang="ru-RU" sz="1800" dirty="0">
                <a:latin typeface="+mn-lt"/>
              </a:rPr>
              <a:t>Генерация форм ввода данных</a:t>
            </a:r>
            <a:r>
              <a:rPr lang="ru-RU" dirty="0">
                <a:latin typeface="Arial" charset="0"/>
              </a:rPr>
              <a:t> </a:t>
            </a:r>
            <a:br>
              <a:rPr lang="ru-RU" dirty="0">
                <a:latin typeface="Arial" charset="0"/>
              </a:rPr>
            </a:br>
            <a:r>
              <a:rPr lang="ru-RU" sz="1800" b="0" dirty="0">
                <a:latin typeface="+mn-lt"/>
              </a:rPr>
              <a:t>по описанию атрибутов.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65690-9738-97DD-2E57-E36D645A5E73}"/>
              </a:ext>
            </a:extLst>
          </p:cNvPr>
          <p:cNvSpPr txBox="1"/>
          <p:nvPr/>
        </p:nvSpPr>
        <p:spPr>
          <a:xfrm>
            <a:off x="2423793" y="478378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35447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2A34-3E88-CADB-41F5-22380FA2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FEB8A9F-41A6-D4FA-48B0-1527E26C5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36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7DFFE59-B7CA-D43E-01A3-1783B8847E26}"/>
              </a:ext>
            </a:extLst>
          </p:cNvPr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75000"/>
                  </a:schemeClr>
                </a:solidFill>
              </a:rPr>
              <a:t>Альтернативы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ru-RU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FECEFC-7159-1E44-8340-33EB52268338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marL="627063" lvl="1" indent="-342900"/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Встроенные в БД сложные типы данных: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XML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 / JSONB</a:t>
            </a:r>
            <a:endParaRPr lang="ru-RU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27063" lvl="1" indent="-342900"/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  <a:p>
            <a:pPr marL="627063" lvl="1" indent="-342900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NOSQL 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базы данных типа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key-value: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Redis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Memcached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Riak</a:t>
            </a: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Apache Cassandra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27063" lvl="1" indent="-342900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NOSQL 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базы данных типа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column-family based: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Apache Cassandra</a:t>
            </a:r>
          </a:p>
          <a:p>
            <a:pPr marL="627063" lvl="1" indent="-342900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Apache HBase</a:t>
            </a:r>
          </a:p>
          <a:p>
            <a:pPr marL="176213" lvl="1"/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FD2CF-B3EA-43E2-6E10-D3FCF4067754}"/>
              </a:ext>
            </a:extLst>
          </p:cNvPr>
          <p:cNvSpPr txBox="1"/>
          <p:nvPr/>
        </p:nvSpPr>
        <p:spPr>
          <a:xfrm>
            <a:off x="4009718" y="377797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46397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F02CE-C891-05DB-6A81-F7E6A26A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02B5BBA-21F9-527E-4212-FE1DCC92D0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37</a:t>
            </a:fld>
            <a:endParaRPr lang="ru-RU" alt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FCD76D-B5DA-C196-ADE1-28CFD4861F54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marL="176213" lvl="1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Описания участников создания книги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Пример значения атрибута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176213" lvl="1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87425" lvl="1"/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‘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&lt;creators editor=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Петров А.В.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</a:t>
            </a:r>
          </a:p>
          <a:p>
            <a:pPr marL="987425"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authors=“</a:t>
            </a:r>
            <a:r>
              <a:rPr lang="ru-RU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Шкатов</a:t>
            </a:r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П.Н. Черненький В.М.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87425"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artist=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Хомич И.С.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87425"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/&gt;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’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3F4CDB-7F78-F4D7-66FD-24DF15F5014C}"/>
              </a:ext>
            </a:extLst>
          </p:cNvPr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Пример атрибута типа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XML</a:t>
            </a:r>
            <a:endParaRPr lang="ru-RU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55F54-245C-F39B-FA71-CFF68B6F201D}"/>
              </a:ext>
            </a:extLst>
          </p:cNvPr>
          <p:cNvSpPr txBox="1"/>
          <p:nvPr/>
        </p:nvSpPr>
        <p:spPr>
          <a:xfrm>
            <a:off x="1614949" y="1854216"/>
            <a:ext cx="3635477" cy="1692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76213" lvl="1"/>
            <a:r>
              <a:rPr lang="en-US" sz="20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Books</a:t>
            </a:r>
          </a:p>
          <a:p>
            <a:pPr marL="176213" lvl="1"/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(PK) </a:t>
            </a:r>
            <a:r>
              <a:rPr lang="en-US" sz="20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book_ID</a:t>
            </a: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SMALLINT</a:t>
            </a:r>
            <a:endParaRPr lang="ru-RU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ru-RU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…</a:t>
            </a: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creators XML</a:t>
            </a:r>
            <a:endParaRPr lang="ru-RU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…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29263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1005-E4F7-6706-29C2-353CA0BF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3EEF2BF-4FC5-CDCF-767B-DA4D62AE8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38</a:t>
            </a:fld>
            <a:endParaRPr lang="ru-RU" alt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8BAABFE-EC45-9CAE-7C48-97DD7BC56498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endParaRPr lang="ru-RU" sz="900" b="0" dirty="0"/>
          </a:p>
          <a:p>
            <a:pPr marL="176213" lvl="1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Описания участников создания книги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Пример значения атрибута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176213" lvl="1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87425" lvl="1"/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29A3E-85F7-4EFD-DF57-D44C968A8AE7}"/>
              </a:ext>
            </a:extLst>
          </p:cNvPr>
          <p:cNvSpPr/>
          <p:nvPr/>
        </p:nvSpPr>
        <p:spPr>
          <a:xfrm>
            <a:off x="0" y="478381"/>
            <a:ext cx="913431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1"/>
            <a:r>
              <a:rPr lang="ru-RU" sz="3600" dirty="0">
                <a:solidFill>
                  <a:schemeClr val="tx2">
                    <a:lumMod val="50000"/>
                  </a:schemeClr>
                </a:solidFill>
              </a:rPr>
              <a:t>Пример атрибута типа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JSON</a:t>
            </a:r>
            <a:endParaRPr lang="ru-RU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849C9-13B0-A8CB-C690-26CAC1D1A023}"/>
              </a:ext>
            </a:extLst>
          </p:cNvPr>
          <p:cNvSpPr txBox="1"/>
          <p:nvPr/>
        </p:nvSpPr>
        <p:spPr>
          <a:xfrm>
            <a:off x="1614949" y="1854216"/>
            <a:ext cx="3635477" cy="1692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76213" lvl="1"/>
            <a:r>
              <a:rPr lang="en-US" sz="20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Books</a:t>
            </a:r>
          </a:p>
          <a:p>
            <a:pPr marL="176213" lvl="1"/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(PK) </a:t>
            </a:r>
            <a:r>
              <a:rPr lang="en-US" sz="20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book_ID</a:t>
            </a: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SMALLINT</a:t>
            </a:r>
            <a:endParaRPr lang="ru-RU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ru-RU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…</a:t>
            </a: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creators JSON</a:t>
            </a:r>
            <a:endParaRPr lang="ru-RU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6213" lvl="1"/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…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277661-FD23-52A8-E0A4-0090A1E5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814" y="4585444"/>
            <a:ext cx="5563574" cy="1252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  <a:t>'{"редактор": "Петров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  <a:t>А.В.",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  <a:t>"авторы": ["Иванов С.П.", "Семёнов В.К."],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i-monospace"/>
              </a:rPr>
              <a:t>"художник": "Филин Р.Б."}'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95391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ABBE-6F93-F147-57E1-4DDC51D13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AC6856-9DF0-EB53-0B75-7FF63B131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710" y="6374384"/>
            <a:ext cx="2133600" cy="476250"/>
          </a:xfrm>
        </p:spPr>
        <p:txBody>
          <a:bodyPr/>
          <a:lstStyle/>
          <a:p>
            <a:pPr>
              <a:defRPr/>
            </a:pPr>
            <a:fld id="{DC977FA9-112D-495B-9401-B6C9F051D9A1}" type="slidenum">
              <a:rPr lang="ru-RU" altLang="ru-RU" smtClean="0"/>
              <a:pPr>
                <a:defRPr/>
              </a:pPr>
              <a:t>39</a:t>
            </a:fld>
            <a:endParaRPr lang="ru-RU" alt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737306-461C-BF37-34E4-523975A86F2C}"/>
              </a:ext>
            </a:extLst>
          </p:cNvPr>
          <p:cNvSpPr/>
          <p:nvPr/>
        </p:nvSpPr>
        <p:spPr>
          <a:xfrm>
            <a:off x="-1" y="135767"/>
            <a:ext cx="9134311" cy="10895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442913" indent="-12700">
              <a:lnSpc>
                <a:spcPct val="90000"/>
              </a:lnSpc>
              <a:defRPr/>
            </a:pPr>
            <a:r>
              <a:rPr lang="ru-RU" altLang="ru-RU" sz="3600" kern="0" dirty="0">
                <a:solidFill>
                  <a:schemeClr val="tx2">
                    <a:lumMod val="50000"/>
                  </a:schemeClr>
                </a:solidFill>
              </a:rPr>
              <a:t>Какие </a:t>
            </a:r>
            <a:r>
              <a:rPr lang="ru-RU" altLang="ru-RU" sz="3600" kern="0" dirty="0">
                <a:solidFill>
                  <a:schemeClr val="tx2">
                    <a:lumMod val="75000"/>
                  </a:schemeClr>
                </a:solidFill>
              </a:rPr>
              <a:t>знания по модели </a:t>
            </a:r>
            <a:r>
              <a:rPr lang="ru-RU" altLang="ru-RU" sz="3600" kern="0" dirty="0">
                <a:solidFill>
                  <a:schemeClr val="tx2">
                    <a:lumMod val="50000"/>
                  </a:schemeClr>
                </a:solidFill>
              </a:rPr>
              <a:t>проверяются в РК</a:t>
            </a:r>
            <a:r>
              <a:rPr lang="en-US" altLang="ru-RU" sz="3600" kern="0" dirty="0">
                <a:solidFill>
                  <a:schemeClr val="tx2">
                    <a:lumMod val="50000"/>
                  </a:schemeClr>
                </a:solidFill>
              </a:rPr>
              <a:t>2</a:t>
            </a:r>
            <a:r>
              <a:rPr lang="ru-RU" altLang="ru-RU" sz="3600" kern="0" dirty="0">
                <a:solidFill>
                  <a:schemeClr val="tx2">
                    <a:lumMod val="50000"/>
                  </a:schemeClr>
                </a:solidFill>
              </a:rPr>
              <a:t>?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69BB24-7BA0-A525-6D67-360717DAF1B6}"/>
              </a:ext>
            </a:extLst>
          </p:cNvPr>
          <p:cNvSpPr/>
          <p:nvPr/>
        </p:nvSpPr>
        <p:spPr bwMode="auto">
          <a:xfrm>
            <a:off x="539750" y="1225296"/>
            <a:ext cx="8594560" cy="5048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>
                <a:latin typeface="+mn-lt"/>
              </a:rPr>
              <a:t>Модель «сущность – атрибут – значение» </a:t>
            </a:r>
            <a:r>
              <a:rPr lang="en-US" b="0" dirty="0">
                <a:latin typeface="+mn-lt"/>
              </a:rPr>
              <a:t>EAV</a:t>
            </a:r>
          </a:p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/>
              <a:t>Сценарии применения УМД</a:t>
            </a:r>
          </a:p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>
                <a:latin typeface="+mn-lt"/>
              </a:rPr>
              <a:t>Идея </a:t>
            </a:r>
            <a:r>
              <a:rPr lang="ru-RU" b="0" dirty="0" err="1">
                <a:latin typeface="+mn-lt"/>
              </a:rPr>
              <a:t>метамоделирования</a:t>
            </a:r>
            <a:r>
              <a:rPr lang="ru-RU" b="0" dirty="0">
                <a:latin typeface="+mn-lt"/>
              </a:rPr>
              <a:t> разреженных таблиц</a:t>
            </a:r>
            <a:endParaRPr lang="en-US" b="0" dirty="0">
              <a:latin typeface="+mn-lt"/>
            </a:endParaRPr>
          </a:p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>
                <a:latin typeface="+mn-lt"/>
              </a:rPr>
              <a:t>Объединение нескольких сущностей в модель </a:t>
            </a:r>
            <a:r>
              <a:rPr lang="en-US" b="0" dirty="0">
                <a:latin typeface="+mn-lt"/>
              </a:rPr>
              <a:t>EAV</a:t>
            </a:r>
          </a:p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>
                <a:latin typeface="+mn-lt"/>
              </a:rPr>
              <a:t>Пример реализации модели </a:t>
            </a:r>
            <a:r>
              <a:rPr lang="en-US" b="0" dirty="0">
                <a:latin typeface="+mn-lt"/>
              </a:rPr>
              <a:t>EAV</a:t>
            </a:r>
          </a:p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>
                <a:latin typeface="+mn-lt"/>
              </a:rPr>
              <a:t>Модель </a:t>
            </a:r>
            <a:r>
              <a:rPr lang="en-US" b="0" dirty="0">
                <a:latin typeface="+mn-lt"/>
              </a:rPr>
              <a:t>EAV </a:t>
            </a:r>
            <a:r>
              <a:rPr lang="ru-RU" b="0" dirty="0">
                <a:latin typeface="+mn-lt"/>
              </a:rPr>
              <a:t>с разделением значений по типам</a:t>
            </a:r>
          </a:p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>
                <a:latin typeface="+mn-lt"/>
              </a:rPr>
              <a:t>Достоинства и недостатки модели </a:t>
            </a:r>
            <a:r>
              <a:rPr lang="en-US" b="0" dirty="0">
                <a:latin typeface="+mn-lt"/>
              </a:rPr>
              <a:t>EAV</a:t>
            </a:r>
          </a:p>
          <a:p>
            <a:pPr marL="723900" lvl="1" indent="-368300">
              <a:spcAft>
                <a:spcPts val="0"/>
              </a:spcAft>
              <a:buFont typeface="+mj-lt"/>
              <a:buAutoNum type="arabicPeriod"/>
            </a:pPr>
            <a:r>
              <a:rPr lang="ru-RU" b="0" dirty="0">
                <a:latin typeface="+mn-lt"/>
              </a:rPr>
              <a:t>Альтернативы </a:t>
            </a:r>
            <a:r>
              <a:rPr lang="en-US" b="0" dirty="0">
                <a:latin typeface="+mn-lt"/>
              </a:rPr>
              <a:t>EAV</a:t>
            </a:r>
            <a:r>
              <a:rPr lang="ru-RU" b="0" dirty="0">
                <a:latin typeface="+mn-lt"/>
              </a:rPr>
              <a:t>, примеры </a:t>
            </a:r>
            <a:r>
              <a:rPr lang="en-US" b="0" dirty="0">
                <a:latin typeface="+mn-lt"/>
              </a:rPr>
              <a:t>XML/JSON</a:t>
            </a:r>
            <a:endParaRPr lang="ru-RU" b="0" dirty="0">
              <a:latin typeface="+mn-lt"/>
            </a:endParaRPr>
          </a:p>
          <a:p>
            <a:pPr marL="177800" lvl="1">
              <a:spcAft>
                <a:spcPts val="0"/>
              </a:spcAft>
            </a:pPr>
            <a:endParaRPr lang="en-US" sz="2200" b="0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A2CEF-D84C-3150-2C2C-CF6D5665E9D3}"/>
              </a:ext>
            </a:extLst>
          </p:cNvPr>
          <p:cNvSpPr txBox="1"/>
          <p:nvPr/>
        </p:nvSpPr>
        <p:spPr>
          <a:xfrm>
            <a:off x="6233794" y="7366"/>
            <a:ext cx="1533832" cy="646331"/>
          </a:xfrm>
          <a:prstGeom prst="rect">
            <a:avLst/>
          </a:prstGeom>
          <a:noFill/>
        </p:spPr>
        <p:txBody>
          <a:bodyPr wrap="square">
            <a:prstTxWarp prst="textTriangl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EAV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10847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 algn="ctr"/>
            <a:r>
              <a:rPr lang="ru-RU" altLang="ru-RU" sz="3600" dirty="0"/>
              <a:t>Терпения и удачи всем, кто связан </a:t>
            </a:r>
            <a:br>
              <a:rPr lang="ru-RU" altLang="ru-RU" sz="3600" dirty="0"/>
            </a:br>
            <a:r>
              <a:rPr lang="ru-RU" altLang="ru-RU" sz="3600" dirty="0"/>
              <a:t>с моделированием данных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553398" y="1237017"/>
            <a:ext cx="8590602" cy="5036783"/>
          </a:xfrm>
          <a:solidFill>
            <a:srgbClr val="FFFFF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ru-RU" altLang="ru-RU" sz="5400" b="1" dirty="0">
                <a:solidFill>
                  <a:schemeClr val="tx2">
                    <a:lumMod val="75000"/>
                  </a:schemeClr>
                </a:solidFill>
              </a:rPr>
              <a:t>Спасибо за внимание!</a:t>
            </a:r>
          </a:p>
        </p:txBody>
      </p:sp>
      <p:sp>
        <p:nvSpPr>
          <p:cNvPr id="5837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6934200" y="628808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Char char="–"/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50000"/>
              <a:buFont typeface="Wingdings" panose="05000000000000000000" pitchFamily="2" charset="2"/>
              <a:buChar char="n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CC0000"/>
              </a:buClr>
              <a:buSzPct val="70000"/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0FA5082-6767-4009-9D0F-66B8CEF9FA62}" type="slidenum">
              <a:rPr lang="ru-RU" altLang="ru-RU" sz="1400" smtClean="0">
                <a:solidFill>
                  <a:schemeClr val="tx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40</a:t>
            </a:fld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2" name="Загнутый угол 1"/>
          <p:cNvSpPr/>
          <p:nvPr/>
        </p:nvSpPr>
        <p:spPr bwMode="auto">
          <a:xfrm>
            <a:off x="2109019" y="2221992"/>
            <a:ext cx="6752564" cy="3767328"/>
          </a:xfrm>
          <a:prstGeom prst="foldedCorner">
            <a:avLst/>
          </a:prstGeom>
          <a:solidFill>
            <a:srgbClr val="BDFFBD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68400" algn="ctr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endParaRPr lang="ru-RU" altLang="ru-RU" sz="3200" dirty="0"/>
          </a:p>
          <a:p>
            <a:pPr marL="354013" algn="ctr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ru-RU" altLang="ru-RU" sz="2800" dirty="0"/>
              <a:t>Валерий Иванович Артемьев</a:t>
            </a:r>
          </a:p>
          <a:p>
            <a:pPr marL="354013" algn="ctr">
              <a:spcAft>
                <a:spcPts val="600"/>
              </a:spcAft>
            </a:pPr>
            <a:r>
              <a:rPr lang="ru-RU" altLang="ru-RU" sz="2000" dirty="0">
                <a:solidFill>
                  <a:schemeClr val="bg2">
                    <a:lumMod val="75000"/>
                  </a:schemeClr>
                </a:solidFill>
              </a:rPr>
              <a:t>МГТУ имени </a:t>
            </a:r>
            <a:r>
              <a:rPr lang="en-US" altLang="ru-RU" sz="2000" dirty="0">
                <a:solidFill>
                  <a:schemeClr val="bg2">
                    <a:lumMod val="75000"/>
                  </a:schemeClr>
                </a:solidFill>
              </a:rPr>
              <a:t>H.</a:t>
            </a:r>
            <a:r>
              <a:rPr lang="ru-RU" altLang="ru-RU" sz="2000" dirty="0">
                <a:solidFill>
                  <a:schemeClr val="bg2">
                    <a:lumMod val="75000"/>
                  </a:schemeClr>
                </a:solidFill>
              </a:rPr>
              <a:t>Э. Баумана, </a:t>
            </a:r>
          </a:p>
          <a:p>
            <a:pPr marL="354013" algn="ctr">
              <a:spcAft>
                <a:spcPts val="600"/>
              </a:spcAft>
            </a:pPr>
            <a:r>
              <a:rPr lang="ru-RU" altLang="ru-RU" sz="2000" dirty="0">
                <a:solidFill>
                  <a:schemeClr val="bg2">
                    <a:lumMod val="75000"/>
                  </a:schemeClr>
                </a:solidFill>
              </a:rPr>
              <a:t>кафедра ИУ-5</a:t>
            </a:r>
          </a:p>
          <a:p>
            <a:pPr marL="354013" algn="ctr">
              <a:spcBef>
                <a:spcPts val="600"/>
              </a:spcBef>
              <a:buNone/>
            </a:pPr>
            <a:r>
              <a:rPr lang="ru-RU" altLang="ru-RU" sz="2000" dirty="0">
                <a:solidFill>
                  <a:schemeClr val="bg2">
                    <a:lumMod val="75000"/>
                  </a:schemeClr>
                </a:solidFill>
              </a:rPr>
              <a:t>Банк России,</a:t>
            </a:r>
            <a:br>
              <a:rPr lang="ru-RU" altLang="ru-RU" sz="2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altLang="ru-RU" sz="2000" dirty="0">
                <a:solidFill>
                  <a:schemeClr val="bg2">
                    <a:lumMod val="75000"/>
                  </a:schemeClr>
                </a:solidFill>
              </a:rPr>
              <a:t>Департамент данных, проектов и процессов</a:t>
            </a:r>
            <a:br>
              <a:rPr lang="ru-RU" altLang="ru-RU" dirty="0">
                <a:solidFill>
                  <a:schemeClr val="bg2">
                    <a:lumMod val="75000"/>
                  </a:schemeClr>
                </a:solidFill>
              </a:rPr>
            </a:br>
            <a:endParaRPr lang="en-US" altLang="ru-RU" dirty="0">
              <a:solidFill>
                <a:schemeClr val="bg2">
                  <a:lumMod val="75000"/>
                </a:schemeClr>
              </a:solidFill>
            </a:endParaRPr>
          </a:p>
          <a:p>
            <a:pPr marL="530225" algn="ctr">
              <a:lnSpc>
                <a:spcPct val="80000"/>
              </a:lnSpc>
              <a:buNone/>
            </a:pPr>
            <a:r>
              <a:rPr lang="ru-RU" altLang="ru-RU" dirty="0"/>
              <a:t>Тел.: +7(495) 753-96-25</a:t>
            </a:r>
          </a:p>
          <a:p>
            <a:pPr marL="530225"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dirty="0"/>
              <a:t>    e-mail:</a:t>
            </a:r>
            <a:r>
              <a:rPr lang="ru-RU" altLang="ru-RU" dirty="0"/>
              <a:t> </a:t>
            </a:r>
            <a:r>
              <a:rPr lang="en-US" altLang="ru-RU" dirty="0"/>
              <a:t>viart@bmstu.ru</a:t>
            </a:r>
            <a:endParaRPr lang="ru-RU" alt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8D14E4-D719-1F99-DDD8-54376DFDF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/>
          <a:stretch>
            <a:fillRect/>
          </a:stretch>
        </p:blipFill>
        <p:spPr>
          <a:xfrm rot="21185424">
            <a:off x="164130" y="2341153"/>
            <a:ext cx="2139359" cy="2857752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2004_Gartner_PPT_one_template">
  <a:themeElements>
    <a:clrScheme name="2004_Gartner_PPT_one_template 9">
      <a:dk1>
        <a:srgbClr val="000000"/>
      </a:dk1>
      <a:lt1>
        <a:srgbClr val="FFCC00"/>
      </a:lt1>
      <a:dk2>
        <a:srgbClr val="FF3300"/>
      </a:dk2>
      <a:lt2>
        <a:srgbClr val="808080"/>
      </a:lt2>
      <a:accent1>
        <a:srgbClr val="FF3300"/>
      </a:accent1>
      <a:accent2>
        <a:srgbClr val="3333CC"/>
      </a:accent2>
      <a:accent3>
        <a:srgbClr val="FFE2AA"/>
      </a:accent3>
      <a:accent4>
        <a:srgbClr val="000000"/>
      </a:accent4>
      <a:accent5>
        <a:srgbClr val="FFADAA"/>
      </a:accent5>
      <a:accent6>
        <a:srgbClr val="2D2DB9"/>
      </a:accent6>
      <a:hlink>
        <a:srgbClr val="CCCCFF"/>
      </a:hlink>
      <a:folHlink>
        <a:srgbClr val="B2B2B2"/>
      </a:folHlink>
    </a:clrScheme>
    <a:fontScheme name="2004_Gartner_PPT_one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004_Gartner_PPT_one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4_Gartner_PPT_one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4_Gartner_PPT_one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4_Gartner_PPT_one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4_Gartner_PPT_one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4_Gartner_PPT_one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4_Gartner_PPT_one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4_Gartner_PPT_one_template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4_Gartner_PPT_one_template 9">
        <a:dk1>
          <a:srgbClr val="000000"/>
        </a:dk1>
        <a:lt1>
          <a:srgbClr val="FFCC00"/>
        </a:lt1>
        <a:dk2>
          <a:srgbClr val="FF3300"/>
        </a:dk2>
        <a:lt2>
          <a:srgbClr val="808080"/>
        </a:lt2>
        <a:accent1>
          <a:srgbClr val="FF3300"/>
        </a:accent1>
        <a:accent2>
          <a:srgbClr val="3333CC"/>
        </a:accent2>
        <a:accent3>
          <a:srgbClr val="FFE2AA"/>
        </a:accent3>
        <a:accent4>
          <a:srgbClr val="000000"/>
        </a:accent4>
        <a:accent5>
          <a:srgbClr val="FFAD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59829</TotalTime>
  <Pages>22</Pages>
  <Words>2016</Words>
  <Application>Microsoft Office PowerPoint</Application>
  <PresentationFormat>Экран (4:3)</PresentationFormat>
  <Paragraphs>487</Paragraphs>
  <Slides>41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52" baseType="lpstr">
      <vt:lpstr>Microsoft YaHei</vt:lpstr>
      <vt:lpstr>Arial</vt:lpstr>
      <vt:lpstr>Arial Narrow</vt:lpstr>
      <vt:lpstr>Calibri</vt:lpstr>
      <vt:lpstr>Nunito Sans</vt:lpstr>
      <vt:lpstr>Symbol</vt:lpstr>
      <vt:lpstr>Times</vt:lpstr>
      <vt:lpstr>ui-monospace</vt:lpstr>
      <vt:lpstr>Wingdings</vt:lpstr>
      <vt:lpstr>Wingdings 3</vt:lpstr>
      <vt:lpstr>2004_Gartner_PPT_one_template</vt:lpstr>
      <vt:lpstr>Модели данных   B2. Универсальные модели. EAV  </vt:lpstr>
      <vt:lpstr>Презентация PowerPoint</vt:lpstr>
      <vt:lpstr>Что такое архитектура данных?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Терпения и удачи всем, кто связан  с моделированием данных</vt:lpstr>
    </vt:vector>
  </TitlesOfParts>
  <Company>ГЦИ, Банк России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Построение многомерных моделей банковской отчетности</dc:title>
  <dc:subject>КПБС</dc:subject>
  <dc:creator>В.И. Артемьев</dc:creator>
  <cp:lastModifiedBy>Valery Artemyev</cp:lastModifiedBy>
  <cp:revision>656</cp:revision>
  <cp:lastPrinted>2018-05-31T06:38:45Z</cp:lastPrinted>
  <dcterms:created xsi:type="dcterms:W3CDTF">2003-12-29T16:42:05Z</dcterms:created>
  <dcterms:modified xsi:type="dcterms:W3CDTF">2026-10-27T08:17:14Z</dcterms:modified>
</cp:coreProperties>
</file>